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AD6C5E-0E33-45B4-1175-B7BFEAAAA67A}" v="54" dt="2026-05-18T10:21:17.4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889042-9A44-466A-A417-EC681DC95F0E}" type="datetimeFigureOut"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B5520-E685-4909-B857-692A36C0C4D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905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8FAF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82296"/>
            <a:ext cx="1600200" cy="7589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73152"/>
            <a:ext cx="6949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300" dirty="0"/>
          </a:p>
          <a:p>
            <a:pPr marL="0" indent="0" algn="r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INT82: Industrial Internship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182880" y="987552"/>
            <a:ext cx="87782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05840" y="1170432"/>
            <a:ext cx="7132320" cy="658368"/>
          </a:xfrm>
          <a:prstGeom prst="rect">
            <a:avLst/>
          </a:prstGeom>
          <a:solidFill>
            <a:srgbClr val="1E7EB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840" y="1170432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INTERNSHIP REPORT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371600" y="19202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2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&amp; Machine Learning Engineering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37744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2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STUDENT'S NAME: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017520" y="237744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Full Name]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276148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2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USN: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017520" y="276148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[1MSxxCSxxx]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314553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2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Name: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017520" y="3145536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Technologies Global, Bangalore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352958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2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Year: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017520" y="3529584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391363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2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Period: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017520" y="391363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– May 2026  (10 Weeks)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429768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2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Supervisor: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017520" y="429768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[Supervisor Name], [Designation]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" y="468172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2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MSRIT Mentor: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017520" y="468172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[Internal Mentor Name], CSE Dept.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7EBB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Letter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solidFill>
            <a:srgbClr val="F0F4F8"/>
          </a:solidFill>
          <a:ln w="19050">
            <a:solidFill>
              <a:srgbClr val="CBD5E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Internship Offer Letter Here</a:t>
            </a:r>
            <a:endParaRPr lang="en-US" sz="2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0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scanned / digital offer letter issued by Opus Technologies Global</a:t>
            </a:r>
            <a:endParaRPr lang="en-US" sz="20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your selection for the AI/ML Engineering Internship.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6817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letter issued by Opus Technologies Global for the AI/ML Engineering Internship, 2026.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4592" y="489204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S Ramaiah Institute of Technology  |  Dept. of CSE  |  INT82: Industrial Internship  |  2025–26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7EBB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Completion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solidFill>
            <a:srgbClr val="F0F4F8"/>
          </a:solidFill>
          <a:ln w="19050">
            <a:solidFill>
              <a:srgbClr val="CBD5E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Internship Completion Certificate Here</a:t>
            </a:r>
            <a:endParaRPr lang="en-US" sz="2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0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official certificate issued by Opus Technologies Global</a:t>
            </a:r>
            <a:endParaRPr lang="en-US" sz="20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certifying successful completion of the 10-week AI/ML Engineering Internship.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6817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completion issued by Opus Technologies Global for the AI/ML Internship programme.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4592" y="489204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S Ramaiah Institute of Technology  |  Dept. of CSE  |  INT82: Industrial Internship  |  2025–26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7EBB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251960" cy="1828800"/>
          </a:xfrm>
          <a:prstGeom prst="rect">
            <a:avLst/>
          </a:prstGeom>
          <a:solidFill>
            <a:srgbClr val="F8FAF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73152" cy="1828800"/>
          </a:xfrm>
          <a:prstGeom prst="rect">
            <a:avLst/>
          </a:prstGeom>
          <a:solidFill>
            <a:srgbClr val="1E7EBB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" y="1005840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Industry Mentor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20624" y="1371600"/>
            <a:ext cx="40050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[Supervisor Name], [Designation]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Technologies Global – for guidance, project assignments, and industry mentorship throughout the 10-week internship.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36592" y="914400"/>
            <a:ext cx="4251960" cy="1828800"/>
          </a:xfrm>
          <a:prstGeom prst="rect">
            <a:avLst/>
          </a:prstGeom>
          <a:solidFill>
            <a:srgbClr val="F8FAF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36592" y="914400"/>
            <a:ext cx="73152" cy="1828800"/>
          </a:xfrm>
          <a:prstGeom prst="rect">
            <a:avLst/>
          </a:prstGeom>
          <a:solidFill>
            <a:srgbClr val="1E7EBB"/>
          </a:solidFill>
          <a:ln/>
        </p:spPr>
      </p:sp>
      <p:sp>
        <p:nvSpPr>
          <p:cNvPr id="11" name="Text 9"/>
          <p:cNvSpPr/>
          <p:nvPr/>
        </p:nvSpPr>
        <p:spPr>
          <a:xfrm>
            <a:off x="4882896" y="1005840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Team Members at Opus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82896" y="1371600"/>
            <a:ext cx="40050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colleagues and team members at Opus Technologies Global for their collaboration, patience, and knowledge-sharing across both projects.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907792"/>
            <a:ext cx="4251960" cy="1828800"/>
          </a:xfrm>
          <a:prstGeom prst="rect">
            <a:avLst/>
          </a:prstGeom>
          <a:solidFill>
            <a:srgbClr val="F8FAF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907792"/>
            <a:ext cx="73152" cy="1828800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" y="2999232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MSRIT Internal Mentor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20624" y="3364992"/>
            <a:ext cx="40050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[Internal Mentor Name], [Designation]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CSE, MSRIT – for academic guidance, timely feedback, and continuous support.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36592" y="2907792"/>
            <a:ext cx="4251960" cy="1828800"/>
          </a:xfrm>
          <a:prstGeom prst="rect">
            <a:avLst/>
          </a:prstGeom>
          <a:solidFill>
            <a:srgbClr val="F8FAF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36592" y="2907792"/>
            <a:ext cx="73152" cy="1828800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19" name="Text 17"/>
          <p:cNvSpPr/>
          <p:nvPr/>
        </p:nvSpPr>
        <p:spPr>
          <a:xfrm>
            <a:off x="4882896" y="2999232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Department &amp; Institution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82896" y="3364992"/>
            <a:ext cx="40050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R Chinappala Naidu, HOD-CSE, and Dr. N. V. R. Naidu, Principal, MSRIT – for infrastructure and internship opportunity.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64592" y="489204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S Ramaiah Institute of Technology  |  Dept. of CSE  |  INT82: Industrial Internship  |  2025–26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4096512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5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E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Particulars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E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 No.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E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 Letter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Completion Certificate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Acknowledgement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 Summary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the Organization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Project 1 — AutoML Classification Framework with Explainability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Project 2 — AI CLV &amp; Personalization with GenAI Advisor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Internship Opportunities / Daily Activities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— Technical Skills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— Professional Skills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Challenges Faced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Results &amp; 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7EBB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896112"/>
            <a:ext cx="5440680" cy="4069080"/>
          </a:xfrm>
          <a:prstGeom prst="rect">
            <a:avLst/>
          </a:prstGeom>
          <a:solidFill>
            <a:srgbClr val="F8FAF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987552"/>
            <a:ext cx="5193792" cy="3886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12-week AI/ML Engineering Internship at Opus Technologies Global, Bangalore</a:t>
            </a:r>
            <a:endParaRPr lang="en-US" sz="1050" dirty="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1–2: Intensive Python training — OOP, NumPy, Pandas, Matplotlib, data preprocessing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Project 1: Modular, config-driven </a:t>
            </a:r>
            <a:r>
              <a:rPr lang="en-US" sz="105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AutoML</a:t>
            </a:r>
            <a:r>
              <a:rPr lang="en-US" sz="105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Framework with SHAP explainability &amp; </a:t>
            </a:r>
            <a:r>
              <a:rPr lang="en-US" sz="105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MLflow</a:t>
            </a:r>
            <a:r>
              <a:rPr lang="en-US" sz="105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tracking</a:t>
            </a:r>
            <a:endParaRPr lang="en-US" sz="1050" dirty="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2: End-to-end CLV prediction system with GenAI-powered RAG personalization advisor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Exposure to Scikit-learn, </a:t>
            </a:r>
            <a:r>
              <a:rPr lang="en-US" sz="105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XGBoost</a:t>
            </a:r>
            <a:r>
              <a:rPr lang="en-US" sz="105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05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LightGBM</a:t>
            </a:r>
            <a:r>
              <a:rPr lang="en-US" sz="105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05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Optuna</a:t>
            </a:r>
            <a:r>
              <a:rPr lang="en-US" sz="105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, SHAP, FAISS, </a:t>
            </a:r>
            <a:r>
              <a:rPr lang="en-US" sz="105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Streamlit</a:t>
            </a:r>
            <a:r>
              <a:rPr lang="en-US" sz="105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05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FastAPI</a:t>
            </a:r>
            <a:endParaRPr lang="en-US" sz="1050" dirty="0" err="1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Contributed to model training, hyperparameter tuning, SHAP reports, and RAG chatbot build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industry exposure through team collaboration, sprint reviews, and documentation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Bridged academic learning with real-world AI/ML engineering standards and practices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25312" y="932688"/>
            <a:ext cx="2944368" cy="868680"/>
          </a:xfrm>
          <a:prstGeom prst="rect">
            <a:avLst/>
          </a:prstGeom>
          <a:solidFill>
            <a:srgbClr val="1E7EB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25312" y="932688"/>
            <a:ext cx="1051560" cy="868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976872" y="932688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Duration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25312" y="1938528"/>
            <a:ext cx="2944368" cy="868680"/>
          </a:xfrm>
          <a:prstGeom prst="rect">
            <a:avLst/>
          </a:prstGeom>
          <a:solidFill>
            <a:srgbClr val="6B2FA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25312" y="1938528"/>
            <a:ext cx="1051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976872" y="1938528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25312" y="2944368"/>
            <a:ext cx="2944368" cy="868680"/>
          </a:xfrm>
          <a:prstGeom prst="rect">
            <a:avLst/>
          </a:prstGeom>
          <a:solidFill>
            <a:srgbClr val="1A7F5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25312" y="2944368"/>
            <a:ext cx="1051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976872" y="2944368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&amp; Applied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25312" y="3950208"/>
            <a:ext cx="2944368" cy="868680"/>
          </a:xfrm>
          <a:prstGeom prst="rect">
            <a:avLst/>
          </a:prstGeom>
          <a:solidFill>
            <a:srgbClr val="D9770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25312" y="3950208"/>
            <a:ext cx="1051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976872" y="3950208"/>
            <a:ext cx="1920240" cy="868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</a:t>
            </a:r>
            <a:endParaRPr lang="en-US" sz="1100" dirty="0"/>
          </a:p>
          <a:p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ML ·  GenAI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64592" y="489204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S Ramaiah Institute of Technology  |  Dept. of CSE  |  INT82: Industrial Internship  |  2025–26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7EBB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Organization — Opus Technologies Global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896112"/>
            <a:ext cx="4526280" cy="4069080"/>
          </a:xfrm>
          <a:prstGeom prst="rect">
            <a:avLst/>
          </a:prstGeom>
          <a:solidFill>
            <a:srgbClr val="F8FAF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50976"/>
            <a:ext cx="2103120" cy="256032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509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4048" y="13258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7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72768" y="1325880"/>
            <a:ext cx="3090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Engineering · Data Analytics · BFSI Technology Solutions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18928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7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72768" y="1892808"/>
            <a:ext cx="3090672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Pune, Maharashtra, India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84048" y="245973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7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72768" y="2459736"/>
            <a:ext cx="3090672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Financial Solutions · Customer Analytics · GenAI </a:t>
            </a:r>
            <a:r>
              <a:rPr lang="en-US" sz="10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Applications</a:t>
            </a:r>
            <a:endParaRPr lang="en-US" sz="1000" dirty="0"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84048" y="302666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7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72768" y="3026664"/>
            <a:ext cx="3090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· Fintech platforms · Payment companies · Enterprises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" y="35935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7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72768" y="3593592"/>
            <a:ext cx="3090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· Continuous learning · Knowledge sharing · Mentorship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41605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7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72768" y="4160520"/>
            <a:ext cx="3090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project contribution from Day 1 under senior supervision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10912" y="932688"/>
            <a:ext cx="3858768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BEE3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10912" y="932688"/>
            <a:ext cx="73152" cy="1234440"/>
          </a:xfrm>
          <a:prstGeom prst="rect">
            <a:avLst/>
          </a:prstGeom>
          <a:solidFill>
            <a:srgbClr val="1E7EBB"/>
          </a:solidFill>
          <a:ln/>
        </p:spPr>
      </p:sp>
      <p:sp>
        <p:nvSpPr>
          <p:cNvPr id="22" name="Text 20"/>
          <p:cNvSpPr/>
          <p:nvPr/>
        </p:nvSpPr>
        <p:spPr>
          <a:xfrm>
            <a:off x="5138928" y="1024128"/>
            <a:ext cx="361188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B5E"/>
                </a:solidFill>
                <a:latin typeface="Calibri"/>
                <a:ea typeface="Calibri"/>
                <a:cs typeface="Calibri"/>
              </a:rPr>
              <a:t>  AI-First Innovation</a:t>
            </a:r>
            <a:endParaRPr lang="en-US" sz="1250" dirty="0">
              <a:latin typeface="Calibri"/>
              <a:ea typeface="Calibri"/>
              <a:cs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138928" y="1389888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Cutting-edge ML &amp; deep learning for enterprise financial services with full explainability.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10912" y="2276856"/>
            <a:ext cx="3858768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BEE3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10912" y="2276856"/>
            <a:ext cx="73152" cy="1234440"/>
          </a:xfrm>
          <a:prstGeom prst="rect">
            <a:avLst/>
          </a:prstGeom>
          <a:solidFill>
            <a:srgbClr val="1E7EBB"/>
          </a:solidFill>
          <a:ln/>
        </p:spPr>
      </p:sp>
      <p:sp>
        <p:nvSpPr>
          <p:cNvPr id="26" name="Text 24"/>
          <p:cNvSpPr/>
          <p:nvPr/>
        </p:nvSpPr>
        <p:spPr>
          <a:xfrm>
            <a:off x="5138928" y="2368296"/>
            <a:ext cx="361188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C2B5E"/>
                </a:solidFill>
                <a:latin typeface="Calibri"/>
                <a:ea typeface="Calibri"/>
                <a:cs typeface="Calibri"/>
              </a:rPr>
              <a:t>BFSI Domain Expertise</a:t>
            </a:r>
            <a:endParaRPr lang="en-US" sz="1250">
              <a:latin typeface="Calibri"/>
              <a:ea typeface="Calibri"/>
              <a:cs typeface="Calibri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138928" y="2734056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in banking, fintech &amp; payments; deep regulatory knowledge including SR 11-7.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10912" y="3621024"/>
            <a:ext cx="3858768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BEE3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10912" y="3621024"/>
            <a:ext cx="73152" cy="1234440"/>
          </a:xfrm>
          <a:prstGeom prst="rect">
            <a:avLst/>
          </a:prstGeom>
          <a:solidFill>
            <a:srgbClr val="1E7EBB"/>
          </a:solidFill>
          <a:ln/>
        </p:spPr>
      </p:sp>
      <p:sp>
        <p:nvSpPr>
          <p:cNvPr id="30" name="Text 28"/>
          <p:cNvSpPr/>
          <p:nvPr/>
        </p:nvSpPr>
        <p:spPr>
          <a:xfrm>
            <a:off x="5138928" y="3712464"/>
            <a:ext cx="361188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B5E"/>
                </a:solidFill>
                <a:latin typeface="Calibri"/>
                <a:ea typeface="Calibri"/>
                <a:cs typeface="Calibri"/>
              </a:rPr>
              <a:t>  Cloud-Agnostic Delivery</a:t>
            </a:r>
            <a:endParaRPr lang="en-US" sz="1250" dirty="0">
              <a:latin typeface="Calibri"/>
              <a:ea typeface="Calibri"/>
              <a:cs typeface="Calibri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138928" y="4078224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running on AWS, Azure, GCP, and on-premise; multi-geography delivery teams.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64592" y="489204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S Ramaiah Institute of Technology  |  Dept. of CSE  |  INT82: Industrial Internship  |  2025–26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7EBB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— Reusable AutoML Classification Framework with Explainability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6032" y="896112"/>
            <a:ext cx="2816352" cy="40690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50976"/>
            <a:ext cx="2103120" cy="25603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9509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7472" y="1261872"/>
            <a:ext cx="2633472" cy="3639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60–70% of data scientist time on repetitive boilerplate tasks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project takes 4–8 weeks to set up from scratch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reusable modular framework — code rebuilt per problem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outputs lack business-interpretable explanations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friction in regulated environments (SR 11-7)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experiment tracking or model versioning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10128" y="896112"/>
            <a:ext cx="2834640" cy="40690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01568" y="950976"/>
            <a:ext cx="2103120" cy="256032"/>
          </a:xfrm>
          <a:prstGeom prst="rect">
            <a:avLst/>
          </a:prstGeom>
          <a:solidFill>
            <a:srgbClr val="1A7F5A"/>
          </a:solidFill>
          <a:ln/>
        </p:spPr>
      </p:sp>
      <p:sp>
        <p:nvSpPr>
          <p:cNvPr id="11" name="Text 9"/>
          <p:cNvSpPr/>
          <p:nvPr/>
        </p:nvSpPr>
        <p:spPr>
          <a:xfrm>
            <a:off x="3401568" y="9509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01568" y="1261872"/>
            <a:ext cx="2633472" cy="3639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config-driven AutoML — zero new code per problem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preprocessing pipeline: imputation, encoding, scaling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algorithm library in a pluggable, extendable registry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TPE: within 2% of manual tuning AUC in &lt;50 trials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global + local explanations for 100% of predictions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tracking: model versioning &amp; champion/challenger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Model Cards meeting SR 11-7 checklist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Docker packaging for production deployment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82512" y="896112"/>
            <a:ext cx="2514600" cy="40690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950976"/>
            <a:ext cx="2103120" cy="256032"/>
          </a:xfrm>
          <a:prstGeom prst="rect">
            <a:avLst/>
          </a:prstGeom>
          <a:solidFill>
            <a:srgbClr val="1E7EB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9509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46520" y="1261872"/>
            <a:ext cx="2359152" cy="246888"/>
          </a:xfrm>
          <a:prstGeom prst="rect">
            <a:avLst/>
          </a:prstGeom>
          <a:solidFill>
            <a:srgbClr val="DBEAFE"/>
          </a:solidFill>
          <a:ln w="508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261872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46520" y="1536192"/>
            <a:ext cx="2359152" cy="246888"/>
          </a:xfrm>
          <a:prstGeom prst="rect">
            <a:avLst/>
          </a:prstGeom>
          <a:solidFill>
            <a:srgbClr val="EFF6FF"/>
          </a:solidFill>
          <a:ln w="508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536192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1810512"/>
            <a:ext cx="2359152" cy="246888"/>
          </a:xfrm>
          <a:prstGeom prst="rect">
            <a:avLst/>
          </a:prstGeom>
          <a:solidFill>
            <a:srgbClr val="DBEAFE"/>
          </a:solidFill>
          <a:ln w="508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1810512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46520" y="2084832"/>
            <a:ext cx="2359152" cy="246888"/>
          </a:xfrm>
          <a:prstGeom prst="rect">
            <a:avLst/>
          </a:prstGeom>
          <a:solidFill>
            <a:srgbClr val="EFF6FF"/>
          </a:solidFill>
          <a:ln w="508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2084832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46520" y="2359152"/>
            <a:ext cx="2359152" cy="246888"/>
          </a:xfrm>
          <a:prstGeom prst="rect">
            <a:avLst/>
          </a:prstGeom>
          <a:solidFill>
            <a:srgbClr val="DBEAFE"/>
          </a:solidFill>
          <a:ln w="508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2359152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46520" y="2633472"/>
            <a:ext cx="2359152" cy="246888"/>
          </a:xfrm>
          <a:prstGeom prst="rect">
            <a:avLst/>
          </a:prstGeom>
          <a:solidFill>
            <a:srgbClr val="EFF6FF"/>
          </a:solidFill>
          <a:ln w="508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2633472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(TPE)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46520" y="2907792"/>
            <a:ext cx="2359152" cy="246888"/>
          </a:xfrm>
          <a:prstGeom prst="rect">
            <a:avLst/>
          </a:prstGeom>
          <a:solidFill>
            <a:srgbClr val="DBEAFE"/>
          </a:solidFill>
          <a:ln w="508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2907792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46520" y="3182112"/>
            <a:ext cx="2359152" cy="246888"/>
          </a:xfrm>
          <a:prstGeom prst="rect">
            <a:avLst/>
          </a:prstGeom>
          <a:solidFill>
            <a:srgbClr val="EFF6FF"/>
          </a:solidFill>
          <a:ln w="5080">
            <a:solidFill>
              <a:srgbClr val="BFDB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3182112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46520" y="3456432"/>
            <a:ext cx="2359152" cy="246888"/>
          </a:xfrm>
          <a:prstGeom prst="rect">
            <a:avLst/>
          </a:prstGeom>
          <a:solidFill>
            <a:srgbClr val="DBEAFE"/>
          </a:solidFill>
          <a:ln w="5080">
            <a:solidFill>
              <a:srgbClr val="BFDB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3456432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46520" y="3730752"/>
            <a:ext cx="2359152" cy="246888"/>
          </a:xfrm>
          <a:prstGeom prst="rect">
            <a:avLst/>
          </a:prstGeom>
          <a:solidFill>
            <a:srgbClr val="EFF6FF"/>
          </a:solidFill>
          <a:ln w="5080">
            <a:solidFill>
              <a:srgbClr val="BFDB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3730752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46520" y="4005072"/>
            <a:ext cx="2359152" cy="246888"/>
          </a:xfrm>
          <a:prstGeom prst="rect">
            <a:avLst/>
          </a:prstGeom>
          <a:solidFill>
            <a:srgbClr val="DBEAFE"/>
          </a:solidFill>
          <a:ln w="5080">
            <a:solidFill>
              <a:srgbClr val="BFDB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4005072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46520" y="4279392"/>
            <a:ext cx="2359152" cy="246888"/>
          </a:xfrm>
          <a:prstGeom prst="rect">
            <a:avLst/>
          </a:prstGeom>
          <a:solidFill>
            <a:srgbClr val="EFF6FF"/>
          </a:solidFill>
          <a:ln w="5080">
            <a:solidFill>
              <a:srgbClr val="BFDB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4279392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64592" y="489204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S Ramaiah Institute of Technology  |  Dept. of CSE  |  INT82: Industrial Internship  |  2025–26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7EBB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— AI Customer Life Cycle Value &amp; Personalization with GenAI Advisor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6032" y="896112"/>
            <a:ext cx="2816352" cy="40690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50976"/>
            <a:ext cx="2103120" cy="25603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9509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7472" y="1261872"/>
            <a:ext cx="2633472" cy="3639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lack accurate systems to estimate long-term CLV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analytics provide only static historical summaries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customer segmentation — high-value or at-risk customers missed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model outputs not interpretable for business teams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personalized retention or cross-selling insights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self-service tool for business users to query customer data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10128" y="896112"/>
            <a:ext cx="2834640" cy="40690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01568" y="950976"/>
            <a:ext cx="2103120" cy="256032"/>
          </a:xfrm>
          <a:prstGeom prst="rect">
            <a:avLst/>
          </a:prstGeom>
          <a:solidFill>
            <a:srgbClr val="1A7F5A"/>
          </a:solidFill>
          <a:ln/>
        </p:spPr>
      </p:sp>
      <p:sp>
        <p:nvSpPr>
          <p:cNvPr id="11" name="Text 9"/>
          <p:cNvSpPr/>
          <p:nvPr/>
        </p:nvSpPr>
        <p:spPr>
          <a:xfrm>
            <a:off x="3401568" y="9509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01568" y="1261872"/>
            <a:ext cx="2633472" cy="3639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+ behavioural feature engineering on 100K customer dataset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CLV regression model: R² ≈ 0.87 on test set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clustering: 4 distinct behavioural customer groups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segmentation: Low / Medium / High value labels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FAISS-backed RAG chatbot for natural-language business Q&amp;A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Phi-2 LLM for contextual, explainable AI-generated responses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UI: single prediction + batch CSV upload + download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from raw data to actionable business insights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82512" y="896112"/>
            <a:ext cx="2514600" cy="40690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950976"/>
            <a:ext cx="2103120" cy="256032"/>
          </a:xfrm>
          <a:prstGeom prst="rect">
            <a:avLst/>
          </a:prstGeom>
          <a:solidFill>
            <a:srgbClr val="1E7EB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9509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46520" y="1261872"/>
            <a:ext cx="2359152" cy="246888"/>
          </a:xfrm>
          <a:prstGeom prst="rect">
            <a:avLst/>
          </a:prstGeom>
          <a:solidFill>
            <a:srgbClr val="DBEAFE"/>
          </a:solidFill>
          <a:ln w="508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261872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46520" y="1536192"/>
            <a:ext cx="2359152" cy="246888"/>
          </a:xfrm>
          <a:prstGeom prst="rect">
            <a:avLst/>
          </a:prstGeom>
          <a:solidFill>
            <a:srgbClr val="EFF6FF"/>
          </a:solidFill>
          <a:ln w="508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536192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1810512"/>
            <a:ext cx="2359152" cy="246888"/>
          </a:xfrm>
          <a:prstGeom prst="rect">
            <a:avLst/>
          </a:prstGeom>
          <a:solidFill>
            <a:srgbClr val="DBEAFE"/>
          </a:solidFill>
          <a:ln w="508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1810512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46520" y="2084832"/>
            <a:ext cx="2359152" cy="246888"/>
          </a:xfrm>
          <a:prstGeom prst="rect">
            <a:avLst/>
          </a:prstGeom>
          <a:solidFill>
            <a:srgbClr val="EFF6FF"/>
          </a:solidFill>
          <a:ln w="508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2084832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46520" y="2359152"/>
            <a:ext cx="2359152" cy="246888"/>
          </a:xfrm>
          <a:prstGeom prst="rect">
            <a:avLst/>
          </a:prstGeom>
          <a:solidFill>
            <a:srgbClr val="DBEAFE"/>
          </a:solidFill>
          <a:ln w="508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2359152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46520" y="2633472"/>
            <a:ext cx="2359152" cy="246888"/>
          </a:xfrm>
          <a:prstGeom prst="rect">
            <a:avLst/>
          </a:prstGeom>
          <a:solidFill>
            <a:srgbClr val="EFF6FF"/>
          </a:solidFill>
          <a:ln w="508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2633472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46520" y="2907792"/>
            <a:ext cx="2359152" cy="246888"/>
          </a:xfrm>
          <a:prstGeom prst="rect">
            <a:avLst/>
          </a:prstGeom>
          <a:solidFill>
            <a:srgbClr val="DBEAFE"/>
          </a:solidFill>
          <a:ln w="508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2907792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DB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46520" y="3182112"/>
            <a:ext cx="2359152" cy="246888"/>
          </a:xfrm>
          <a:prstGeom prst="rect">
            <a:avLst/>
          </a:prstGeom>
          <a:solidFill>
            <a:srgbClr val="EFF6FF"/>
          </a:solidFill>
          <a:ln w="5080">
            <a:solidFill>
              <a:srgbClr val="BFDB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3182112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46520" y="3456432"/>
            <a:ext cx="2359152" cy="246888"/>
          </a:xfrm>
          <a:prstGeom prst="rect">
            <a:avLst/>
          </a:prstGeom>
          <a:solidFill>
            <a:srgbClr val="DBEAFE"/>
          </a:solidFill>
          <a:ln w="5080">
            <a:solidFill>
              <a:srgbClr val="BFDB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3456432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Phi-2 (LLM)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46520" y="3730752"/>
            <a:ext cx="2359152" cy="246888"/>
          </a:xfrm>
          <a:prstGeom prst="rect">
            <a:avLst/>
          </a:prstGeom>
          <a:solidFill>
            <a:srgbClr val="EFF6FF"/>
          </a:solidFill>
          <a:ln w="5080">
            <a:solidFill>
              <a:srgbClr val="BFDB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3730752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46520" y="4005072"/>
            <a:ext cx="2359152" cy="246888"/>
          </a:xfrm>
          <a:prstGeom prst="rect">
            <a:avLst/>
          </a:prstGeom>
          <a:solidFill>
            <a:srgbClr val="DBEAFE"/>
          </a:solidFill>
          <a:ln w="5080">
            <a:solidFill>
              <a:srgbClr val="BFDB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4005072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46520" y="4279392"/>
            <a:ext cx="2359152" cy="246888"/>
          </a:xfrm>
          <a:prstGeom prst="rect">
            <a:avLst/>
          </a:prstGeom>
          <a:solidFill>
            <a:srgbClr val="EFF6FF"/>
          </a:solidFill>
          <a:ln w="5080">
            <a:solidFill>
              <a:srgbClr val="BFDB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4279392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64592" y="489204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S Ramaiah Institute of Technology  |  Dept. of CSE  |  INT82: Industrial Internship  |  2025–26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7EBB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— Internship Activities &amp; Daily Exposure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032" y="868680"/>
            <a:ext cx="2011680" cy="4096512"/>
          </a:xfrm>
          <a:prstGeom prst="rect">
            <a:avLst/>
          </a:prstGeom>
          <a:solidFill>
            <a:srgbClr val="F8FAF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68680"/>
            <a:ext cx="2011680" cy="548640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8686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6032" y="11247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Training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7472" y="1481328"/>
            <a:ext cx="1828800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OOP &amp; modules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&amp; Pandas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EDA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techniques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50592" y="868680"/>
            <a:ext cx="2011680" cy="4096512"/>
          </a:xfrm>
          <a:prstGeom prst="rect">
            <a:avLst/>
          </a:prstGeom>
          <a:solidFill>
            <a:srgbClr val="F8FAF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868680"/>
            <a:ext cx="2011680" cy="548640"/>
          </a:xfrm>
          <a:prstGeom prst="rect">
            <a:avLst/>
          </a:prstGeom>
          <a:solidFill>
            <a:srgbClr val="1E7EBB"/>
          </a:solidFill>
          <a:ln/>
        </p:spPr>
      </p:sp>
      <p:sp>
        <p:nvSpPr>
          <p:cNvPr id="12" name="Text 10"/>
          <p:cNvSpPr/>
          <p:nvPr/>
        </p:nvSpPr>
        <p:spPr>
          <a:xfrm>
            <a:off x="2450592" y="8686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1247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 Framework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542032" y="1481328"/>
            <a:ext cx="1828800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development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tuning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integration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tracking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45152" y="868680"/>
            <a:ext cx="2011680" cy="4096512"/>
          </a:xfrm>
          <a:prstGeom prst="rect">
            <a:avLst/>
          </a:prstGeom>
          <a:solidFill>
            <a:srgbClr val="F8FAF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45152" y="868680"/>
            <a:ext cx="2011680" cy="548640"/>
          </a:xfrm>
          <a:prstGeom prst="rect">
            <a:avLst/>
          </a:prstGeom>
          <a:solidFill>
            <a:srgbClr val="1A7F5A"/>
          </a:solidFill>
          <a:ln/>
        </p:spPr>
      </p:sp>
      <p:sp>
        <p:nvSpPr>
          <p:cNvPr id="17" name="Text 15"/>
          <p:cNvSpPr/>
          <p:nvPr/>
        </p:nvSpPr>
        <p:spPr>
          <a:xfrm>
            <a:off x="4645152" y="8686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7–9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45152" y="11247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&amp; GenAI System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36592" y="1481328"/>
            <a:ext cx="1828800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feature engineering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model training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build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39712" y="868680"/>
            <a:ext cx="2011680" cy="4096512"/>
          </a:xfrm>
          <a:prstGeom prst="rect">
            <a:avLst/>
          </a:prstGeom>
          <a:solidFill>
            <a:srgbClr val="F8FAF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39712" y="868680"/>
            <a:ext cx="2011680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6839712" y="868680"/>
            <a:ext cx="201168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Week 10-12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39712" y="11247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Docs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931152" y="1481328"/>
            <a:ext cx="1828800" cy="34015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Streamlit</a:t>
            </a:r>
            <a:r>
              <a:rPr lang="en-US" sz="105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UI </a:t>
            </a:r>
            <a:endParaRPr lang="en-US" sz="1050" dirty="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React UI</a:t>
            </a:r>
            <a:endParaRPr lang="en-US" sz="1050" dirty="0">
              <a:solidFill>
                <a:srgbClr val="1A1A2E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integration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debugging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writing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56032" y="4846320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daily activities: Stand-ups · Architecture discussions · Code reviews · Debugging sessions · Documentation · Supervisor feedback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64592" y="489204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S Ramaiah Institute of Technology  |  Dept. of CSE  |  INT82: Industrial Internship  |  2025–26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7EBB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— Technical Skills Acquired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868680"/>
            <a:ext cx="2834640" cy="4096512"/>
          </a:xfrm>
          <a:prstGeom prst="rect">
            <a:avLst/>
          </a:prstGeom>
          <a:solidFill>
            <a:srgbClr val="F8FAF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68680"/>
            <a:ext cx="2834640" cy="384048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" y="868680"/>
            <a:ext cx="2688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1316736"/>
            <a:ext cx="2651760" cy="3547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(OOP)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NumPy: vectorized operations &amp; linear algebra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Pandas: DataFrame manipulation, groupby, merge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&amp; Seaborn: visualization &amp; EDA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 &amp; custom exception classes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I/O: CSV, JSON, Parquet handling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Modules, packages &amp; virtual environments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18688" y="868680"/>
            <a:ext cx="2834640" cy="4096512"/>
          </a:xfrm>
          <a:prstGeom prst="rect">
            <a:avLst/>
          </a:prstGeom>
          <a:solidFill>
            <a:srgbClr val="F8FAF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868680"/>
            <a:ext cx="2834640" cy="384048"/>
          </a:xfrm>
          <a:prstGeom prst="rect">
            <a:avLst/>
          </a:prstGeom>
          <a:solidFill>
            <a:srgbClr val="1E7EBB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868680"/>
            <a:ext cx="2688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0128" y="1316736"/>
            <a:ext cx="2651760" cy="3547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feature engineering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Pipeline API &amp; serialization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&amp; regression model training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k-fold cross-validation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AUC, F1, RMSE, R² metrics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TreeExplainer &amp; KernelExplainer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Bayesian hyperparameter tuning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81344" y="868680"/>
            <a:ext cx="2834640" cy="4096512"/>
          </a:xfrm>
          <a:prstGeom prst="rect">
            <a:avLst/>
          </a:prstGeom>
          <a:solidFill>
            <a:srgbClr val="F8FAF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1344" y="868680"/>
            <a:ext cx="2834640" cy="384048"/>
          </a:xfrm>
          <a:prstGeom prst="rect">
            <a:avLst/>
          </a:prstGeom>
          <a:solidFill>
            <a:srgbClr val="1A7F5A"/>
          </a:solidFill>
          <a:ln/>
        </p:spPr>
      </p:sp>
      <p:sp>
        <p:nvSpPr>
          <p:cNvPr id="15" name="Text 13"/>
          <p:cNvSpPr/>
          <p:nvPr/>
        </p:nvSpPr>
        <p:spPr>
          <a:xfrm>
            <a:off x="6254496" y="868680"/>
            <a:ext cx="2688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/ GenAI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72784" y="1316736"/>
            <a:ext cx="2651760" cy="3547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 framework design &amp; config patterns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experiment tracking &amp; model registry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analytics &amp; RFM feature modelling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&amp; silhouette evaluation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pipeline: chunking, embedding, retrieval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indexing &amp; semantic search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Docker packaging concepts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4592" y="489204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S Ramaiah Institute of Technology  |  Dept. of CSE  |  INT82: Industrial Internship  |  2025–26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7EBB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— Professional Skills Developed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886968"/>
            <a:ext cx="4297680" cy="960120"/>
          </a:xfrm>
          <a:prstGeom prst="rect">
            <a:avLst/>
          </a:prstGeom>
          <a:solidFill>
            <a:srgbClr val="F8FAF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86968"/>
            <a:ext cx="73152" cy="960120"/>
          </a:xfrm>
          <a:prstGeom prst="rect">
            <a:avLst/>
          </a:prstGeom>
          <a:solidFill>
            <a:srgbClr val="1E7EBB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" y="941832"/>
            <a:ext cx="4041648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5E"/>
                </a:solidFill>
                <a:latin typeface="Calibri"/>
                <a:ea typeface="Calibri"/>
                <a:cs typeface="Calibri"/>
              </a:rPr>
              <a:t>  Team Collaboration</a:t>
            </a:r>
            <a:endParaRPr lang="en-US" sz="115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393192" y="1271016"/>
            <a:ext cx="40416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in a cross-functional team at Opus; participated in sprint reviews and peer knowledge-sharing sessions.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73168" y="886968"/>
            <a:ext cx="4297680" cy="960120"/>
          </a:xfrm>
          <a:prstGeom prst="rect">
            <a:avLst/>
          </a:prstGeom>
          <a:solidFill>
            <a:srgbClr val="F8FAF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73168" y="886968"/>
            <a:ext cx="73152" cy="960120"/>
          </a:xfrm>
          <a:prstGeom prst="rect">
            <a:avLst/>
          </a:prstGeom>
          <a:solidFill>
            <a:srgbClr val="1E7EBB"/>
          </a:solidFill>
          <a:ln/>
        </p:spPr>
      </p:sp>
      <p:sp>
        <p:nvSpPr>
          <p:cNvPr id="11" name="Text 9"/>
          <p:cNvSpPr/>
          <p:nvPr/>
        </p:nvSpPr>
        <p:spPr>
          <a:xfrm>
            <a:off x="4910328" y="941832"/>
            <a:ext cx="4041648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5E"/>
                </a:solidFill>
                <a:latin typeface="Calibri"/>
                <a:ea typeface="Calibri"/>
                <a:cs typeface="Calibri"/>
              </a:rPr>
              <a:t> Problem Solving</a:t>
            </a:r>
            <a:endParaRPr lang="en-US" sz="1150" dirty="0"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910328" y="1271016"/>
            <a:ext cx="40416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diagnosed and resolved technical bugs, design trade-offs, and integration challenges across both projects.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032" y="1956816"/>
            <a:ext cx="4297680" cy="960120"/>
          </a:xfrm>
          <a:prstGeom prst="rect">
            <a:avLst/>
          </a:prstGeom>
          <a:solidFill>
            <a:srgbClr val="F8FAF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1956816"/>
            <a:ext cx="73152" cy="960120"/>
          </a:xfrm>
          <a:prstGeom prst="rect">
            <a:avLst/>
          </a:prstGeom>
          <a:solidFill>
            <a:srgbClr val="1E7EBB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" y="2011680"/>
            <a:ext cx="4041648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C2B5E"/>
                </a:solidFill>
                <a:latin typeface="Calibri"/>
                <a:ea typeface="Calibri"/>
                <a:cs typeface="Calibri"/>
              </a:rPr>
              <a:t>Technical Documentation</a:t>
            </a:r>
            <a:endParaRPr lang="en-US" sz="1150">
              <a:latin typeface="Calibri"/>
              <a:ea typeface="Calibri"/>
              <a:cs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93192" y="2340864"/>
            <a:ext cx="40416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weekly diaries, code documentation, architecture notes, and this formal internship report.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73168" y="1956816"/>
            <a:ext cx="4297680" cy="960120"/>
          </a:xfrm>
          <a:prstGeom prst="rect">
            <a:avLst/>
          </a:prstGeom>
          <a:solidFill>
            <a:srgbClr val="F8FAF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73168" y="1956816"/>
            <a:ext cx="73152" cy="960120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19" name="Text 17"/>
          <p:cNvSpPr/>
          <p:nvPr/>
        </p:nvSpPr>
        <p:spPr>
          <a:xfrm>
            <a:off x="4910328" y="2011680"/>
            <a:ext cx="4041648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50" b="1">
                <a:solidFill>
                  <a:srgbClr val="1C2B5E"/>
                </a:solidFill>
                <a:latin typeface="Calibri"/>
                <a:ea typeface="Calibri"/>
                <a:cs typeface="Calibri"/>
              </a:rPr>
              <a:t>Communication</a:t>
            </a:r>
            <a:endParaRPr lang="en-US" sz="1150"/>
          </a:p>
        </p:txBody>
      </p:sp>
      <p:sp>
        <p:nvSpPr>
          <p:cNvPr id="20" name="Text 18"/>
          <p:cNvSpPr/>
          <p:nvPr/>
        </p:nvSpPr>
        <p:spPr>
          <a:xfrm>
            <a:off x="4910328" y="2340864"/>
            <a:ext cx="40416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weekly progress to the external supervisor; communicated AI/ML concepts to both technical and non-technical audiences.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3026664"/>
            <a:ext cx="4297680" cy="960120"/>
          </a:xfrm>
          <a:prstGeom prst="rect">
            <a:avLst/>
          </a:prstGeom>
          <a:solidFill>
            <a:srgbClr val="F8FAF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026664"/>
            <a:ext cx="73152" cy="960120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23" name="Text 21"/>
          <p:cNvSpPr/>
          <p:nvPr/>
        </p:nvSpPr>
        <p:spPr>
          <a:xfrm>
            <a:off x="393192" y="3081528"/>
            <a:ext cx="4041648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50" b="1">
                <a:solidFill>
                  <a:srgbClr val="1C2B5E"/>
                </a:solidFill>
                <a:latin typeface="Calibri"/>
                <a:ea typeface="Calibri"/>
                <a:cs typeface="Calibri"/>
              </a:rPr>
              <a:t>  Time Management</a:t>
            </a:r>
            <a:endParaRPr lang="en-US" sz="1150">
              <a:latin typeface="Calibri"/>
              <a:ea typeface="Calibri"/>
              <a:cs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93192" y="3410712"/>
            <a:ext cx="40416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all project components within defined weekly sprint deadlines while balancing learning and implementation.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73168" y="3026664"/>
            <a:ext cx="4297680" cy="960120"/>
          </a:xfrm>
          <a:prstGeom prst="rect">
            <a:avLst/>
          </a:prstGeom>
          <a:solidFill>
            <a:srgbClr val="F8FAF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73168" y="3026664"/>
            <a:ext cx="73152" cy="960120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27" name="Text 25"/>
          <p:cNvSpPr/>
          <p:nvPr/>
        </p:nvSpPr>
        <p:spPr>
          <a:xfrm>
            <a:off x="4910328" y="3081528"/>
            <a:ext cx="4041648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5E"/>
                </a:solidFill>
                <a:latin typeface="Calibri"/>
                <a:ea typeface="Calibri"/>
                <a:cs typeface="Calibri"/>
              </a:rPr>
              <a:t>  Adaptability</a:t>
            </a:r>
            <a:endParaRPr lang="en-US" sz="1150" dirty="0">
              <a:latin typeface="Calibri"/>
              <a:ea typeface="Calibri"/>
              <a:cs typeface="Calibri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910328" y="3410712"/>
            <a:ext cx="40416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Rapidly onboarded to Optuna, SHAP, FAISS, Streamlit, and MLflow within tight sprint timelines.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6032" y="4096512"/>
            <a:ext cx="4297680" cy="960120"/>
          </a:xfrm>
          <a:prstGeom prst="rect">
            <a:avLst/>
          </a:prstGeom>
          <a:solidFill>
            <a:srgbClr val="F8FAF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" y="4096512"/>
            <a:ext cx="73152" cy="960120"/>
          </a:xfrm>
          <a:prstGeom prst="rect">
            <a:avLst/>
          </a:prstGeom>
          <a:solidFill>
            <a:srgbClr val="1A7F5A"/>
          </a:solidFill>
          <a:ln/>
        </p:spPr>
      </p:sp>
      <p:sp>
        <p:nvSpPr>
          <p:cNvPr id="31" name="Text 29"/>
          <p:cNvSpPr/>
          <p:nvPr/>
        </p:nvSpPr>
        <p:spPr>
          <a:xfrm>
            <a:off x="393192" y="4151376"/>
            <a:ext cx="4041648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C2B5E"/>
                </a:solidFill>
                <a:latin typeface="Calibri"/>
                <a:ea typeface="Calibri"/>
                <a:cs typeface="Calibri"/>
              </a:rPr>
              <a:t>Analytical Thinking</a:t>
            </a:r>
            <a:endParaRPr lang="en-US" sz="1150">
              <a:latin typeface="Calibri"/>
              <a:ea typeface="Calibri"/>
              <a:cs typeface="Calibri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93192" y="4480560"/>
            <a:ext cx="40416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model performance trade-offs, selected algorithms based on data characteristics, designed segmentation strategies.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73168" y="4096512"/>
            <a:ext cx="4297680" cy="960120"/>
          </a:xfrm>
          <a:prstGeom prst="rect">
            <a:avLst/>
          </a:prstGeom>
          <a:solidFill>
            <a:srgbClr val="F8FAF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73168" y="4096512"/>
            <a:ext cx="73152" cy="960120"/>
          </a:xfrm>
          <a:prstGeom prst="rect">
            <a:avLst/>
          </a:prstGeom>
          <a:solidFill>
            <a:srgbClr val="1A7F5A"/>
          </a:solidFill>
          <a:ln/>
        </p:spPr>
      </p:sp>
      <p:sp>
        <p:nvSpPr>
          <p:cNvPr id="35" name="Text 33"/>
          <p:cNvSpPr/>
          <p:nvPr/>
        </p:nvSpPr>
        <p:spPr>
          <a:xfrm>
            <a:off x="4910328" y="4151376"/>
            <a:ext cx="4041648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5E"/>
                </a:solidFill>
                <a:latin typeface="Calibri"/>
                <a:ea typeface="Calibri"/>
                <a:cs typeface="Calibri"/>
              </a:rPr>
              <a:t>  Industry Awareness</a:t>
            </a:r>
            <a:endParaRPr lang="en-US" sz="1150" dirty="0">
              <a:latin typeface="Calibri"/>
              <a:ea typeface="Calibri"/>
              <a:cs typeface="Calibri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910328" y="4480560"/>
            <a:ext cx="40416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understanding of enterprise ML workflows, regulatory requirements (SR 11-7), and production AI/ML standards.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64592" y="489204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S Ramaiah Institute of Technology  |  Dept. of CSE  |  INT82: Industrial Internship  |  2025–26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7EBB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 During Internship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886968"/>
            <a:ext cx="4297680" cy="96012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86968"/>
            <a:ext cx="73152" cy="960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402336" y="941832"/>
            <a:ext cx="4005072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Enterprise ML Workflow Complexity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402336" y="1271016"/>
            <a:ext cx="40050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Studied architecture docs; attended senior engineering review sessions.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73168" y="886968"/>
            <a:ext cx="4297680" cy="96012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73168" y="886968"/>
            <a:ext cx="73152" cy="960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4919472" y="941832"/>
            <a:ext cx="4005072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Multi-Component</a:t>
            </a:r>
            <a:r>
              <a:rPr lang="en-US" sz="1100" b="1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Framework Integration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919472" y="1271016"/>
            <a:ext cx="40050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Modular design; independent component testing before end-to-end integration.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032" y="1956816"/>
            <a:ext cx="4297680" cy="96012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1956816"/>
            <a:ext cx="73152" cy="960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" y="2011680"/>
            <a:ext cx="4005072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 SHAP </a:t>
            </a:r>
            <a:r>
              <a:rPr lang="en-US" sz="1100" b="1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KernelExplainer</a:t>
            </a:r>
            <a:r>
              <a:rPr lang="en-US" sz="1100" b="1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Latency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02336" y="2340864"/>
            <a:ext cx="40050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Implemented SHAP value caching per prediction cluster for batch mode.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73168" y="1956816"/>
            <a:ext cx="4297680" cy="96012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73168" y="1956816"/>
            <a:ext cx="73152" cy="960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4919472" y="2011680"/>
            <a:ext cx="4005072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Optuna</a:t>
            </a:r>
            <a:r>
              <a:rPr lang="en-US" sz="1100" b="1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Pruning Configuration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19472" y="2340864"/>
            <a:ext cx="40050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Tested MedianPruner with warmup steps; balanced aggressiveness vs. thoroughness.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3026664"/>
            <a:ext cx="4297680" cy="96012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026664"/>
            <a:ext cx="73152" cy="960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402336" y="3081528"/>
            <a:ext cx="4005072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 K-Means Optimal Cluster Selection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02336" y="3410712"/>
            <a:ext cx="40050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Combined Elbow Method + Silhouette Score + business interpretability review.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73168" y="3026664"/>
            <a:ext cx="4297680" cy="96012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73168" y="3026664"/>
            <a:ext cx="73152" cy="960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4919472" y="3081528"/>
            <a:ext cx="4005072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 FAISS Index Rebuild on Updates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919472" y="3410712"/>
            <a:ext cx="40050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Implemented index versioning with triggered rebuild on knowledge base changes.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6032" y="4096512"/>
            <a:ext cx="4297680" cy="96012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" y="4096512"/>
            <a:ext cx="73152" cy="960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402336" y="4151376"/>
            <a:ext cx="4005072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 Phi-2 Local Inference Latency (4–6s)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02336" y="4480560"/>
            <a:ext cx="40050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Caching for frequent queries; cloud deployment flagged as future enhancement.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73168" y="4096512"/>
            <a:ext cx="4297680" cy="96012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73168" y="4096512"/>
            <a:ext cx="73152" cy="960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4919472" y="4151376"/>
            <a:ext cx="4005072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 Rapid New Framework Onboarding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919472" y="4480560"/>
            <a:ext cx="40050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Official documentation first; applied immediately in project for fast consolidation.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64592" y="489204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S Ramaiah Institute of Technology  |  Dept. of CSE  |  INT82: Industrial Internship  |  2025–26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7EBB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896112"/>
            <a:ext cx="4251960" cy="193852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96112"/>
            <a:ext cx="4251960" cy="347472"/>
          </a:xfrm>
          <a:prstGeom prst="rect">
            <a:avLst/>
          </a:prstGeom>
          <a:solidFill>
            <a:srgbClr val="1E7EBB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" y="89611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— AutoML Framework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" y="1298448"/>
            <a:ext cx="409651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weeks → 1–2 weeks: new problem onboarding time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new code required — 100% config-driven (YAML)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explanations for 100% of predictions across all models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within 2% of manual tuning AUC with &lt;50 Optuna trials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Model Cards meeting SR 11-7 compliance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896112"/>
            <a:ext cx="4178808" cy="1938528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96112"/>
            <a:ext cx="4178808" cy="347472"/>
          </a:xfrm>
          <a:prstGeom prst="rect">
            <a:avLst/>
          </a:prstGeom>
          <a:solidFill>
            <a:srgbClr val="1A7F5A"/>
          </a:solidFill>
          <a:ln/>
        </p:spPr>
      </p:sp>
      <p:sp>
        <p:nvSpPr>
          <p:cNvPr id="11" name="Text 9"/>
          <p:cNvSpPr/>
          <p:nvPr/>
        </p:nvSpPr>
        <p:spPr>
          <a:xfrm>
            <a:off x="4782312" y="89611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— CLV &amp; GenAI System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82312" y="1298448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CLV model: R² = 0.87 on 100K customer dataset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K-Means: 4 meaningful behavioural clusters (Silhouette = 0.42)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segmentation: 90%+ value category accuracy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500-customer batch predicted + segmented in &lt; 8 seconds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chatbot: business Q&amp;A grounded in domain knowledge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2971800"/>
            <a:ext cx="8631936" cy="1965960"/>
          </a:xfrm>
          <a:prstGeom prst="rect">
            <a:avLst/>
          </a:prstGeom>
          <a:solidFill>
            <a:srgbClr val="FAF5FF"/>
          </a:solidFill>
          <a:ln w="12700">
            <a:solidFill>
              <a:srgbClr val="DDD6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971800"/>
            <a:ext cx="8631936" cy="347472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" y="2971800"/>
            <a:ext cx="8449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Growth &amp; Overall Internship Impact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" y="3401568"/>
            <a:ext cx="15087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" y="342900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2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5488" y="4041648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Learned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185416" y="3401568"/>
            <a:ext cx="15087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185416" y="342900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2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2185416" y="4041648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Delivered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95344" y="3401568"/>
            <a:ext cx="15087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895344" y="342900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2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895344" y="4041648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05272" y="3401568"/>
            <a:ext cx="15087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05272" y="342900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2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605272" y="4041648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Model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15200" y="3401568"/>
            <a:ext cx="15087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15200" y="342900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2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315200" y="4041648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64592" y="489204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S Ramaiah Institute of Technology  |  Dept. of CSE  |  INT82: Industrial Internship  |  2025–26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7EBB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868680"/>
            <a:ext cx="2834640" cy="4096512"/>
          </a:xfrm>
          <a:prstGeom prst="rect">
            <a:avLst/>
          </a:prstGeom>
          <a:solidFill>
            <a:srgbClr val="F8FAF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68680"/>
            <a:ext cx="2834640" cy="384048"/>
          </a:xfrm>
          <a:prstGeom prst="rect">
            <a:avLst/>
          </a:prstGeom>
          <a:solidFill>
            <a:srgbClr val="1E7EBB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" y="868680"/>
            <a:ext cx="2688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Libraries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1316736"/>
            <a:ext cx="2651760" cy="3547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 Docs – https://docs.python.org/3.10/</a:t>
            </a:r>
            <a:endParaRPr lang="en-US" sz="9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Docs – https://scikit-learn.org/stable/</a:t>
            </a:r>
            <a:endParaRPr lang="en-US" sz="9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&amp; Guestrin (2016) – XGBoost: A Scalable Tree Boosting System. KDD 2016</a:t>
            </a:r>
            <a:endParaRPr lang="en-US" sz="9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Docs – https://xgboost.readthedocs.io/</a:t>
            </a:r>
            <a:endParaRPr lang="en-US" sz="9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Docs – https://lightgbm.readthedocs.io/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18688" y="868680"/>
            <a:ext cx="2834640" cy="4096512"/>
          </a:xfrm>
          <a:prstGeom prst="rect">
            <a:avLst/>
          </a:prstGeom>
          <a:solidFill>
            <a:srgbClr val="F8FAF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868680"/>
            <a:ext cx="2834640" cy="384048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868680"/>
            <a:ext cx="2688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&amp; AutoML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0128" y="1316736"/>
            <a:ext cx="2651760" cy="3547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Lundberg &amp; Lee (2017) – A Unified Approach to Interpreting Model Predictions. NeurIPS 2017</a:t>
            </a:r>
            <a:endParaRPr lang="en-US" sz="9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Docs – https://shap.readthedocs.io/</a:t>
            </a:r>
            <a:endParaRPr lang="en-US" sz="9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Akiba et al. (2019) – Optuna: A Next-generation Hyperparameter Optimization Framework. KDD 2019</a:t>
            </a:r>
            <a:endParaRPr lang="en-US" sz="9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Docs – https://optuna.readthedocs.io/</a:t>
            </a:r>
            <a:endParaRPr lang="en-US" sz="9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Docs – https://mlflow.org/docs/latest/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81344" y="868680"/>
            <a:ext cx="2834640" cy="4096512"/>
          </a:xfrm>
          <a:prstGeom prst="rect">
            <a:avLst/>
          </a:prstGeom>
          <a:solidFill>
            <a:srgbClr val="F8FAF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1344" y="868680"/>
            <a:ext cx="2834640" cy="384048"/>
          </a:xfrm>
          <a:prstGeom prst="rect">
            <a:avLst/>
          </a:prstGeom>
          <a:solidFill>
            <a:srgbClr val="1A7F5A"/>
          </a:solidFill>
          <a:ln/>
        </p:spPr>
      </p:sp>
      <p:sp>
        <p:nvSpPr>
          <p:cNvPr id="15" name="Text 13"/>
          <p:cNvSpPr/>
          <p:nvPr/>
        </p:nvSpPr>
        <p:spPr>
          <a:xfrm>
            <a:off x="6254496" y="868680"/>
            <a:ext cx="2688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&amp; Deployment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72784" y="1316736"/>
            <a:ext cx="2651760" cy="3547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 (2017) – Billion-scale Similarity Search with GPUs (FAISS). arXiv:1702.08734</a:t>
            </a:r>
            <a:endParaRPr lang="en-US" sz="9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 et al. (2020) – Retrieval-Augmented Generation for NLP Tasks. NeurIPS 2020</a:t>
            </a:r>
            <a:endParaRPr lang="en-US" sz="9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Docs – https://docs.streamlit.io/</a:t>
            </a:r>
            <a:endParaRPr lang="en-US" sz="9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Docs – https://fastapi.tiangolo.com/</a:t>
            </a:r>
            <a:endParaRPr lang="en-US" sz="9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Technologies Global – Internal Project Docs (PS-03 &amp; CLV), 2026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" y="489204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S Ramaiah Institute of Technology  |  Dept. of CSE  |  INT82: Industrial Internship  |  2025–26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INT82 Industrial Internship – AI/ML Engineering</dc:title>
  <dc:subject>PptxGenJS Presentation</dc:subject>
  <dc:creator>PptxGenJS</dc:creator>
  <cp:lastModifiedBy>PptxGenJS</cp:lastModifiedBy>
  <cp:revision>25</cp:revision>
  <dcterms:created xsi:type="dcterms:W3CDTF">2026-05-18T10:10:40Z</dcterms:created>
  <dcterms:modified xsi:type="dcterms:W3CDTF">2026-05-18T10:22:40Z</dcterms:modified>
</cp:coreProperties>
</file>