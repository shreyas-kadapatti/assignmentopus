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uce Heavy" charset="1" panose="00000A00000000000000"/>
      <p:regular r:id="rId19"/>
    </p:embeddedFont>
    <p:embeddedFont>
      <p:font typeface="Open Sauce" charset="1" panose="00000500000000000000"/>
      <p:regular r:id="rId20"/>
    </p:embeddedFont>
    <p:embeddedFont>
      <p:font typeface="Aileron" charset="1" panose="00000500000000000000"/>
      <p:regular r:id="rId21"/>
    </p:embeddedFont>
    <p:embeddedFont>
      <p:font typeface="Open Sauce Bold" charset="1" panose="00000800000000000000"/>
      <p:regular r:id="rId22"/>
    </p:embeddedFont>
    <p:embeddedFont>
      <p:font typeface="Canva Sans" charset="1" panose="020B0503030501040103"/>
      <p:regular r:id="rId23"/>
    </p:embeddedFont>
    <p:embeddedFont>
      <p:font typeface="Aileron Bold" charset="1" panose="00000800000000000000"/>
      <p:regular r:id="rId24"/>
    </p:embeddedFont>
    <p:embeddedFont>
      <p:font typeface="Open Sauce Light" charset="1" panose="000004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6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66727">
            <a:off x="10895260" y="-4368833"/>
            <a:ext cx="11215742" cy="112157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66727">
            <a:off x="12737741" y="-2526351"/>
            <a:ext cx="7530780" cy="753078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182836" y="681038"/>
            <a:ext cx="1639426" cy="347662"/>
          </a:xfrm>
          <a:custGeom>
            <a:avLst/>
            <a:gdLst/>
            <a:ahLst/>
            <a:cxnLst/>
            <a:rect r="r" b="b" t="t" l="l"/>
            <a:pathLst>
              <a:path h="347662" w="1639426">
                <a:moveTo>
                  <a:pt x="0" y="0"/>
                </a:moveTo>
                <a:lnTo>
                  <a:pt x="1639426" y="0"/>
                </a:lnTo>
                <a:lnTo>
                  <a:pt x="1639426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57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267666" y="7009871"/>
            <a:ext cx="5875527" cy="3086100"/>
            <a:chOff x="0" y="0"/>
            <a:chExt cx="1547464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47464" cy="812800"/>
            </a:xfrm>
            <a:custGeom>
              <a:avLst/>
              <a:gdLst/>
              <a:ahLst/>
              <a:cxnLst/>
              <a:rect r="r" b="b" t="t" l="l"/>
              <a:pathLst>
                <a:path h="812800" w="1547464">
                  <a:moveTo>
                    <a:pt x="67200" y="0"/>
                  </a:moveTo>
                  <a:lnTo>
                    <a:pt x="1480264" y="0"/>
                  </a:lnTo>
                  <a:cubicBezTo>
                    <a:pt x="1498086" y="0"/>
                    <a:pt x="1515179" y="7080"/>
                    <a:pt x="1527781" y="19683"/>
                  </a:cubicBezTo>
                  <a:cubicBezTo>
                    <a:pt x="1540384" y="32285"/>
                    <a:pt x="1547464" y="49378"/>
                    <a:pt x="1547464" y="67200"/>
                  </a:cubicBezTo>
                  <a:lnTo>
                    <a:pt x="1547464" y="745600"/>
                  </a:lnTo>
                  <a:cubicBezTo>
                    <a:pt x="1547464" y="782713"/>
                    <a:pt x="1517377" y="812800"/>
                    <a:pt x="1480264" y="812800"/>
                  </a:cubicBezTo>
                  <a:lnTo>
                    <a:pt x="67200" y="812800"/>
                  </a:lnTo>
                  <a:cubicBezTo>
                    <a:pt x="49378" y="812800"/>
                    <a:pt x="32285" y="805720"/>
                    <a:pt x="19683" y="793117"/>
                  </a:cubicBezTo>
                  <a:cubicBezTo>
                    <a:pt x="7080" y="780515"/>
                    <a:pt x="0" y="763422"/>
                    <a:pt x="0" y="745600"/>
                  </a:cubicBezTo>
                  <a:lnTo>
                    <a:pt x="0" y="67200"/>
                  </a:lnTo>
                  <a:cubicBezTo>
                    <a:pt x="0" y="49378"/>
                    <a:pt x="7080" y="32285"/>
                    <a:pt x="19683" y="19683"/>
                  </a:cubicBezTo>
                  <a:cubicBezTo>
                    <a:pt x="32285" y="7080"/>
                    <a:pt x="49378" y="0"/>
                    <a:pt x="67200" y="0"/>
                  </a:cubicBezTo>
                  <a:close/>
                </a:path>
              </a:pathLst>
            </a:custGeom>
            <a:solidFill>
              <a:srgbClr val="F1D4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15474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6063" y="1753849"/>
            <a:ext cx="8600459" cy="6214128"/>
            <a:chOff x="0" y="0"/>
            <a:chExt cx="2265141" cy="16366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65141" cy="1636643"/>
            </a:xfrm>
            <a:custGeom>
              <a:avLst/>
              <a:gdLst/>
              <a:ahLst/>
              <a:cxnLst/>
              <a:rect r="r" b="b" t="t" l="l"/>
              <a:pathLst>
                <a:path h="1636643" w="2265141">
                  <a:moveTo>
                    <a:pt x="45909" y="0"/>
                  </a:moveTo>
                  <a:lnTo>
                    <a:pt x="2219232" y="0"/>
                  </a:lnTo>
                  <a:cubicBezTo>
                    <a:pt x="2231408" y="0"/>
                    <a:pt x="2243085" y="4837"/>
                    <a:pt x="2251695" y="13446"/>
                  </a:cubicBezTo>
                  <a:cubicBezTo>
                    <a:pt x="2260305" y="22056"/>
                    <a:pt x="2265141" y="33733"/>
                    <a:pt x="2265141" y="45909"/>
                  </a:cubicBezTo>
                  <a:lnTo>
                    <a:pt x="2265141" y="1590734"/>
                  </a:lnTo>
                  <a:cubicBezTo>
                    <a:pt x="2265141" y="1602910"/>
                    <a:pt x="2260305" y="1614587"/>
                    <a:pt x="2251695" y="1623196"/>
                  </a:cubicBezTo>
                  <a:cubicBezTo>
                    <a:pt x="2243085" y="1631806"/>
                    <a:pt x="2231408" y="1636643"/>
                    <a:pt x="2219232" y="1636643"/>
                  </a:cubicBezTo>
                  <a:lnTo>
                    <a:pt x="45909" y="1636643"/>
                  </a:lnTo>
                  <a:cubicBezTo>
                    <a:pt x="33733" y="1636643"/>
                    <a:pt x="22056" y="1631806"/>
                    <a:pt x="13446" y="1623196"/>
                  </a:cubicBezTo>
                  <a:cubicBezTo>
                    <a:pt x="4837" y="1614587"/>
                    <a:pt x="0" y="1602910"/>
                    <a:pt x="0" y="1590734"/>
                  </a:cubicBezTo>
                  <a:lnTo>
                    <a:pt x="0" y="45909"/>
                  </a:lnTo>
                  <a:cubicBezTo>
                    <a:pt x="0" y="33733"/>
                    <a:pt x="4837" y="22056"/>
                    <a:pt x="13446" y="13446"/>
                  </a:cubicBezTo>
                  <a:cubicBezTo>
                    <a:pt x="22056" y="4837"/>
                    <a:pt x="33733" y="0"/>
                    <a:pt x="45909" y="0"/>
                  </a:cubicBezTo>
                  <a:close/>
                </a:path>
              </a:pathLst>
            </a:custGeom>
            <a:solidFill>
              <a:srgbClr val="89759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2265141" cy="1550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2172573"/>
            <a:ext cx="8115300" cy="559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3"/>
              </a:lnSpc>
            </a:pPr>
            <a:r>
              <a:rPr lang="en-US" sz="8399" spc="-394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AI Customer Life Cycle Value and Personalization with GenAI Advisor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71421" y="7371440"/>
            <a:ext cx="6268337" cy="2334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73"/>
              </a:lnSpc>
            </a:pPr>
            <a:r>
              <a:rPr lang="en-US" sz="4899" spc="-274" u="sng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Presented by:</a:t>
            </a:r>
            <a:r>
              <a:rPr lang="en-US" sz="4899" spc="-274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r">
              <a:lnSpc>
                <a:spcPts val="6173"/>
              </a:lnSpc>
            </a:pPr>
            <a:r>
              <a:rPr lang="en-US" sz="4899" spc="-2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Shreyas Kadapatti</a:t>
            </a:r>
          </a:p>
          <a:p>
            <a:pPr algn="r">
              <a:lnSpc>
                <a:spcPts val="6173"/>
              </a:lnSpc>
            </a:pPr>
            <a:r>
              <a:rPr lang="en-US" sz="4899" spc="-2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Aditi J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-5764620" y="-4377116"/>
            <a:ext cx="9165160" cy="9966661"/>
            <a:chOff x="0" y="0"/>
            <a:chExt cx="74743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7436" cy="812800"/>
            </a:xfrm>
            <a:custGeom>
              <a:avLst/>
              <a:gdLst/>
              <a:ahLst/>
              <a:cxnLst/>
              <a:rect r="r" b="b" t="t" l="l"/>
              <a:pathLst>
                <a:path h="812800" w="747436">
                  <a:moveTo>
                    <a:pt x="373718" y="0"/>
                  </a:moveTo>
                  <a:cubicBezTo>
                    <a:pt x="167319" y="0"/>
                    <a:pt x="0" y="181951"/>
                    <a:pt x="0" y="406400"/>
                  </a:cubicBezTo>
                  <a:cubicBezTo>
                    <a:pt x="0" y="630849"/>
                    <a:pt x="167319" y="812800"/>
                    <a:pt x="373718" y="812800"/>
                  </a:cubicBezTo>
                  <a:cubicBezTo>
                    <a:pt x="580117" y="812800"/>
                    <a:pt x="747436" y="630849"/>
                    <a:pt x="747436" y="406400"/>
                  </a:cubicBezTo>
                  <a:cubicBezTo>
                    <a:pt x="747436" y="181951"/>
                    <a:pt x="580117" y="0"/>
                    <a:pt x="373718" y="0"/>
                  </a:cubicBezTo>
                  <a:lnTo>
                    <a:pt x="373718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0072" y="819150"/>
              <a:ext cx="607292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3924881" y="7072006"/>
            <a:ext cx="4382287" cy="836891"/>
            <a:chOff x="0" y="0"/>
            <a:chExt cx="1649504" cy="3150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9504" cy="315008"/>
            </a:xfrm>
            <a:custGeom>
              <a:avLst/>
              <a:gdLst/>
              <a:ahLst/>
              <a:cxnLst/>
              <a:rect r="r" b="b" t="t" l="l"/>
              <a:pathLst>
                <a:path h="315008" w="1649504">
                  <a:moveTo>
                    <a:pt x="90099" y="0"/>
                  </a:moveTo>
                  <a:lnTo>
                    <a:pt x="1559406" y="0"/>
                  </a:lnTo>
                  <a:cubicBezTo>
                    <a:pt x="1583301" y="0"/>
                    <a:pt x="1606218" y="9493"/>
                    <a:pt x="1623115" y="26389"/>
                  </a:cubicBezTo>
                  <a:cubicBezTo>
                    <a:pt x="1640012" y="43286"/>
                    <a:pt x="1649504" y="66203"/>
                    <a:pt x="1649504" y="90099"/>
                  </a:cubicBezTo>
                  <a:lnTo>
                    <a:pt x="1649504" y="224909"/>
                  </a:lnTo>
                  <a:cubicBezTo>
                    <a:pt x="1649504" y="248805"/>
                    <a:pt x="1640012" y="271722"/>
                    <a:pt x="1623115" y="288619"/>
                  </a:cubicBezTo>
                  <a:cubicBezTo>
                    <a:pt x="1606218" y="305515"/>
                    <a:pt x="1583301" y="315008"/>
                    <a:pt x="1559406" y="315008"/>
                  </a:cubicBezTo>
                  <a:lnTo>
                    <a:pt x="90099" y="315008"/>
                  </a:lnTo>
                  <a:cubicBezTo>
                    <a:pt x="66203" y="315008"/>
                    <a:pt x="43286" y="305515"/>
                    <a:pt x="26389" y="288619"/>
                  </a:cubicBezTo>
                  <a:cubicBezTo>
                    <a:pt x="9493" y="271722"/>
                    <a:pt x="0" y="248805"/>
                    <a:pt x="0" y="224909"/>
                  </a:cubicBezTo>
                  <a:lnTo>
                    <a:pt x="0" y="90099"/>
                  </a:lnTo>
                  <a:cubicBezTo>
                    <a:pt x="0" y="66203"/>
                    <a:pt x="9493" y="43286"/>
                    <a:pt x="26389" y="26389"/>
                  </a:cubicBezTo>
                  <a:cubicBezTo>
                    <a:pt x="43286" y="9493"/>
                    <a:pt x="66203" y="0"/>
                    <a:pt x="900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1649504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3527775" y="8341457"/>
            <a:ext cx="4388393" cy="836891"/>
            <a:chOff x="0" y="0"/>
            <a:chExt cx="1651803" cy="3150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51803" cy="315008"/>
            </a:xfrm>
            <a:custGeom>
              <a:avLst/>
              <a:gdLst/>
              <a:ahLst/>
              <a:cxnLst/>
              <a:rect r="r" b="b" t="t" l="l"/>
              <a:pathLst>
                <a:path h="315008" w="1651803">
                  <a:moveTo>
                    <a:pt x="89973" y="0"/>
                  </a:moveTo>
                  <a:lnTo>
                    <a:pt x="1561829" y="0"/>
                  </a:lnTo>
                  <a:cubicBezTo>
                    <a:pt x="1611520" y="0"/>
                    <a:pt x="1651803" y="40282"/>
                    <a:pt x="1651803" y="89973"/>
                  </a:cubicBezTo>
                  <a:lnTo>
                    <a:pt x="1651803" y="225035"/>
                  </a:lnTo>
                  <a:cubicBezTo>
                    <a:pt x="1651803" y="274725"/>
                    <a:pt x="1611520" y="315008"/>
                    <a:pt x="1561829" y="315008"/>
                  </a:cubicBezTo>
                  <a:lnTo>
                    <a:pt x="89973" y="315008"/>
                  </a:lnTo>
                  <a:cubicBezTo>
                    <a:pt x="40282" y="315008"/>
                    <a:pt x="0" y="274725"/>
                    <a:pt x="0" y="225035"/>
                  </a:cubicBezTo>
                  <a:lnTo>
                    <a:pt x="0" y="89973"/>
                  </a:lnTo>
                  <a:cubicBezTo>
                    <a:pt x="0" y="40282"/>
                    <a:pt x="40282" y="0"/>
                    <a:pt x="89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1651803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002549" y="8341457"/>
            <a:ext cx="4388393" cy="836891"/>
            <a:chOff x="0" y="0"/>
            <a:chExt cx="1651803" cy="3150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51803" cy="315008"/>
            </a:xfrm>
            <a:custGeom>
              <a:avLst/>
              <a:gdLst/>
              <a:ahLst/>
              <a:cxnLst/>
              <a:rect r="r" b="b" t="t" l="l"/>
              <a:pathLst>
                <a:path h="315008" w="1651803">
                  <a:moveTo>
                    <a:pt x="89973" y="0"/>
                  </a:moveTo>
                  <a:lnTo>
                    <a:pt x="1561829" y="0"/>
                  </a:lnTo>
                  <a:cubicBezTo>
                    <a:pt x="1611520" y="0"/>
                    <a:pt x="1651803" y="40282"/>
                    <a:pt x="1651803" y="89973"/>
                  </a:cubicBezTo>
                  <a:lnTo>
                    <a:pt x="1651803" y="225035"/>
                  </a:lnTo>
                  <a:cubicBezTo>
                    <a:pt x="1651803" y="274725"/>
                    <a:pt x="1611520" y="315008"/>
                    <a:pt x="1561829" y="315008"/>
                  </a:cubicBezTo>
                  <a:lnTo>
                    <a:pt x="89973" y="315008"/>
                  </a:lnTo>
                  <a:cubicBezTo>
                    <a:pt x="40282" y="315008"/>
                    <a:pt x="0" y="274725"/>
                    <a:pt x="0" y="225035"/>
                  </a:cubicBezTo>
                  <a:lnTo>
                    <a:pt x="0" y="89973"/>
                  </a:lnTo>
                  <a:cubicBezTo>
                    <a:pt x="0" y="40282"/>
                    <a:pt x="40282" y="0"/>
                    <a:pt x="89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85725"/>
              <a:ext cx="1651803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543180" y="7072006"/>
            <a:ext cx="3398058" cy="836891"/>
            <a:chOff x="0" y="0"/>
            <a:chExt cx="1279038" cy="3150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79038" cy="315008"/>
            </a:xfrm>
            <a:custGeom>
              <a:avLst/>
              <a:gdLst/>
              <a:ahLst/>
              <a:cxnLst/>
              <a:rect r="r" b="b" t="t" l="l"/>
              <a:pathLst>
                <a:path h="315008" w="1279038">
                  <a:moveTo>
                    <a:pt x="116195" y="0"/>
                  </a:moveTo>
                  <a:lnTo>
                    <a:pt x="1162843" y="0"/>
                  </a:lnTo>
                  <a:cubicBezTo>
                    <a:pt x="1193660" y="0"/>
                    <a:pt x="1223214" y="12242"/>
                    <a:pt x="1245005" y="34033"/>
                  </a:cubicBezTo>
                  <a:cubicBezTo>
                    <a:pt x="1266796" y="55824"/>
                    <a:pt x="1279038" y="85378"/>
                    <a:pt x="1279038" y="116195"/>
                  </a:cubicBezTo>
                  <a:lnTo>
                    <a:pt x="1279038" y="198813"/>
                  </a:lnTo>
                  <a:cubicBezTo>
                    <a:pt x="1279038" y="229630"/>
                    <a:pt x="1266796" y="259184"/>
                    <a:pt x="1245005" y="280975"/>
                  </a:cubicBezTo>
                  <a:cubicBezTo>
                    <a:pt x="1223214" y="302766"/>
                    <a:pt x="1193660" y="315008"/>
                    <a:pt x="1162843" y="315008"/>
                  </a:cubicBezTo>
                  <a:lnTo>
                    <a:pt x="116195" y="315008"/>
                  </a:lnTo>
                  <a:cubicBezTo>
                    <a:pt x="85378" y="315008"/>
                    <a:pt x="55824" y="302766"/>
                    <a:pt x="34033" y="280975"/>
                  </a:cubicBezTo>
                  <a:cubicBezTo>
                    <a:pt x="12242" y="259184"/>
                    <a:pt x="0" y="229630"/>
                    <a:pt x="0" y="198813"/>
                  </a:cubicBezTo>
                  <a:lnTo>
                    <a:pt x="0" y="116195"/>
                  </a:lnTo>
                  <a:cubicBezTo>
                    <a:pt x="0" y="85378"/>
                    <a:pt x="12242" y="55824"/>
                    <a:pt x="34033" y="34033"/>
                  </a:cubicBezTo>
                  <a:cubicBezTo>
                    <a:pt x="55824" y="12242"/>
                    <a:pt x="85378" y="0"/>
                    <a:pt x="1161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85725"/>
              <a:ext cx="1279038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6182836" y="681038"/>
            <a:ext cx="1639426" cy="347662"/>
          </a:xfrm>
          <a:custGeom>
            <a:avLst/>
            <a:gdLst/>
            <a:ahLst/>
            <a:cxnLst/>
            <a:rect r="r" b="b" t="t" l="l"/>
            <a:pathLst>
              <a:path h="347662" w="1639426">
                <a:moveTo>
                  <a:pt x="0" y="0"/>
                </a:moveTo>
                <a:lnTo>
                  <a:pt x="1639426" y="0"/>
                </a:lnTo>
                <a:lnTo>
                  <a:pt x="1639426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572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198291" y="3356567"/>
            <a:ext cx="6761830" cy="5536926"/>
            <a:chOff x="0" y="0"/>
            <a:chExt cx="1780894" cy="145828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80894" cy="1458285"/>
            </a:xfrm>
            <a:custGeom>
              <a:avLst/>
              <a:gdLst/>
              <a:ahLst/>
              <a:cxnLst/>
              <a:rect r="r" b="b" t="t" l="l"/>
              <a:pathLst>
                <a:path h="1458285" w="1780894">
                  <a:moveTo>
                    <a:pt x="58392" y="0"/>
                  </a:moveTo>
                  <a:lnTo>
                    <a:pt x="1722501" y="0"/>
                  </a:lnTo>
                  <a:cubicBezTo>
                    <a:pt x="1737988" y="0"/>
                    <a:pt x="1752840" y="6152"/>
                    <a:pt x="1763791" y="17103"/>
                  </a:cubicBezTo>
                  <a:cubicBezTo>
                    <a:pt x="1774742" y="28053"/>
                    <a:pt x="1780894" y="42906"/>
                    <a:pt x="1780894" y="58392"/>
                  </a:cubicBezTo>
                  <a:lnTo>
                    <a:pt x="1780894" y="1399893"/>
                  </a:lnTo>
                  <a:cubicBezTo>
                    <a:pt x="1780894" y="1415379"/>
                    <a:pt x="1774742" y="1430232"/>
                    <a:pt x="1763791" y="1441182"/>
                  </a:cubicBezTo>
                  <a:cubicBezTo>
                    <a:pt x="1752840" y="1452133"/>
                    <a:pt x="1737988" y="1458285"/>
                    <a:pt x="1722501" y="1458285"/>
                  </a:cubicBezTo>
                  <a:lnTo>
                    <a:pt x="58392" y="1458285"/>
                  </a:lnTo>
                  <a:cubicBezTo>
                    <a:pt x="42906" y="1458285"/>
                    <a:pt x="28053" y="1452133"/>
                    <a:pt x="17103" y="1441182"/>
                  </a:cubicBezTo>
                  <a:cubicBezTo>
                    <a:pt x="6152" y="1430232"/>
                    <a:pt x="0" y="1415379"/>
                    <a:pt x="0" y="1399893"/>
                  </a:cubicBezTo>
                  <a:lnTo>
                    <a:pt x="0" y="58392"/>
                  </a:lnTo>
                  <a:cubicBezTo>
                    <a:pt x="0" y="42906"/>
                    <a:pt x="6152" y="28053"/>
                    <a:pt x="17103" y="17103"/>
                  </a:cubicBezTo>
                  <a:cubicBezTo>
                    <a:pt x="28053" y="6152"/>
                    <a:pt x="42906" y="0"/>
                    <a:pt x="58392" y="0"/>
                  </a:cubicBezTo>
                  <a:close/>
                </a:path>
              </a:pathLst>
            </a:custGeom>
            <a:solidFill>
              <a:srgbClr val="D59AC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66675"/>
              <a:ext cx="1780894" cy="1391610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ctr">
                <a:lnSpc>
                  <a:spcPts val="5618"/>
                </a:lnSpc>
              </a:pPr>
              <a:r>
                <a:rPr lang="en-US" sz="5300" spc="-386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Banks can't identify high-value customers, struggle with churn, send generic offers, and have no predictive intelligence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99890" y="3356567"/>
            <a:ext cx="6685063" cy="5536926"/>
            <a:chOff x="0" y="0"/>
            <a:chExt cx="1760675" cy="14582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60675" cy="1458285"/>
            </a:xfrm>
            <a:custGeom>
              <a:avLst/>
              <a:gdLst/>
              <a:ahLst/>
              <a:cxnLst/>
              <a:rect r="r" b="b" t="t" l="l"/>
              <a:pathLst>
                <a:path h="1458285" w="1760675">
                  <a:moveTo>
                    <a:pt x="59063" y="0"/>
                  </a:moveTo>
                  <a:lnTo>
                    <a:pt x="1701612" y="0"/>
                  </a:lnTo>
                  <a:cubicBezTo>
                    <a:pt x="1717277" y="0"/>
                    <a:pt x="1732300" y="6223"/>
                    <a:pt x="1743376" y="17299"/>
                  </a:cubicBezTo>
                  <a:cubicBezTo>
                    <a:pt x="1754452" y="28375"/>
                    <a:pt x="1760675" y="43398"/>
                    <a:pt x="1760675" y="59063"/>
                  </a:cubicBezTo>
                  <a:lnTo>
                    <a:pt x="1760675" y="1399222"/>
                  </a:lnTo>
                  <a:cubicBezTo>
                    <a:pt x="1760675" y="1414887"/>
                    <a:pt x="1754452" y="1429910"/>
                    <a:pt x="1743376" y="1440986"/>
                  </a:cubicBezTo>
                  <a:cubicBezTo>
                    <a:pt x="1732300" y="1452062"/>
                    <a:pt x="1717277" y="1458285"/>
                    <a:pt x="1701612" y="1458285"/>
                  </a:cubicBezTo>
                  <a:lnTo>
                    <a:pt x="59063" y="1458285"/>
                  </a:lnTo>
                  <a:cubicBezTo>
                    <a:pt x="43398" y="1458285"/>
                    <a:pt x="28375" y="1452062"/>
                    <a:pt x="17299" y="1440986"/>
                  </a:cubicBezTo>
                  <a:cubicBezTo>
                    <a:pt x="6223" y="1429910"/>
                    <a:pt x="0" y="1414887"/>
                    <a:pt x="0" y="1399222"/>
                  </a:cubicBezTo>
                  <a:lnTo>
                    <a:pt x="0" y="59063"/>
                  </a:lnTo>
                  <a:cubicBezTo>
                    <a:pt x="0" y="43398"/>
                    <a:pt x="6223" y="28375"/>
                    <a:pt x="17299" y="17299"/>
                  </a:cubicBezTo>
                  <a:cubicBezTo>
                    <a:pt x="28375" y="6223"/>
                    <a:pt x="43398" y="0"/>
                    <a:pt x="59063" y="0"/>
                  </a:cubicBezTo>
                  <a:close/>
                </a:path>
              </a:pathLst>
            </a:custGeom>
            <a:solidFill>
              <a:srgbClr val="D59AC5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66675"/>
              <a:ext cx="1760675" cy="1391610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ctr">
                <a:lnSpc>
                  <a:spcPts val="5829"/>
                </a:lnSpc>
              </a:pPr>
              <a:r>
                <a:rPr lang="en-US" sz="5499" spc="-41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Business impact: lost revenue, low engagement, inefficient marketing spend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flipV="true">
            <a:off x="8179406" y="6105980"/>
            <a:ext cx="1735702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7052739" y="3471459"/>
            <a:ext cx="740079" cy="740079"/>
            <a:chOff x="0" y="0"/>
            <a:chExt cx="647700" cy="647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52400" y="238125"/>
              <a:ext cx="342900" cy="25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457406" y="1079947"/>
            <a:ext cx="16801894" cy="188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19"/>
              </a:lnSpc>
            </a:pPr>
            <a:r>
              <a:rPr lang="en-US" b="true" sz="12666" spc="-531" u="sng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812796" y="3471459"/>
            <a:ext cx="740079" cy="740079"/>
            <a:chOff x="0" y="0"/>
            <a:chExt cx="647700" cy="647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52400" y="238125"/>
              <a:ext cx="342900" cy="25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12218214" y="-6527792"/>
            <a:ext cx="9966661" cy="99666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14620041" y="-3792460"/>
            <a:ext cx="5213104" cy="52131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182836" y="681038"/>
            <a:ext cx="1639426" cy="347662"/>
          </a:xfrm>
          <a:custGeom>
            <a:avLst/>
            <a:gdLst/>
            <a:ahLst/>
            <a:cxnLst/>
            <a:rect r="r" b="b" t="t" l="l"/>
            <a:pathLst>
              <a:path h="347662" w="1639426">
                <a:moveTo>
                  <a:pt x="0" y="0"/>
                </a:moveTo>
                <a:lnTo>
                  <a:pt x="1639426" y="0"/>
                </a:lnTo>
                <a:lnTo>
                  <a:pt x="1639426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572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26540" y="2285826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89759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33350"/>
              <a:ext cx="8128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5"/>
                </a:lnSpc>
              </a:pPr>
              <a:r>
                <a:rPr lang="en-US" sz="4100" spc="-307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CLV prediction engine</a:t>
              </a:r>
              <a:r>
                <a:rPr lang="en-US" sz="4100" spc="-307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00950" y="2285826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89759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33350"/>
              <a:ext cx="8128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5"/>
                </a:lnSpc>
              </a:pPr>
              <a:r>
                <a:rPr lang="en-US" sz="4100" spc="-307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customer segmentation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73150" y="2285826"/>
            <a:ext cx="3086100" cy="30861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89759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33350"/>
              <a:ext cx="8128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99"/>
                </a:lnSpc>
              </a:pPr>
              <a:r>
                <a:rPr lang="en-US" sz="3999" spc="-29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personalization engine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512640" y="6172200"/>
            <a:ext cx="3086100" cy="308610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89759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33350"/>
              <a:ext cx="8128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5"/>
                </a:lnSpc>
              </a:pPr>
              <a:r>
                <a:rPr lang="en-US" sz="4100" spc="-307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GenAI RAG chatbot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87050" y="6172200"/>
            <a:ext cx="3086100" cy="308610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89759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33350"/>
              <a:ext cx="8128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5"/>
                </a:lnSpc>
              </a:pPr>
              <a:r>
                <a:rPr lang="en-US" sz="4100" spc="-307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Streamlit dashboard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399131" y="222190"/>
            <a:ext cx="5489738" cy="163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11"/>
              </a:lnSpc>
            </a:pPr>
            <a:r>
              <a:rPr lang="en-US" b="true" sz="10864" spc="-456" u="sng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86674" y="2807232"/>
            <a:ext cx="60931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30100" y="2807232"/>
            <a:ext cx="60931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39343" y="6846253"/>
            <a:ext cx="60931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83109" y="2514256"/>
            <a:ext cx="35233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07775" y="2514256"/>
            <a:ext cx="35061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049089" y="2514256"/>
            <a:ext cx="3535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37974" y="6437313"/>
            <a:ext cx="36966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14583" y="6437313"/>
            <a:ext cx="36080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13587780" y="5089383"/>
            <a:ext cx="9966661" cy="99666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15438586" y="6668025"/>
            <a:ext cx="6254675" cy="625467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9278497">
            <a:off x="-5803234" y="-4205483"/>
            <a:ext cx="9966661" cy="99666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182836" y="681038"/>
            <a:ext cx="1639426" cy="347662"/>
          </a:xfrm>
          <a:custGeom>
            <a:avLst/>
            <a:gdLst/>
            <a:ahLst/>
            <a:cxnLst/>
            <a:rect r="r" b="b" t="t" l="l"/>
            <a:pathLst>
              <a:path h="347662" w="1639426">
                <a:moveTo>
                  <a:pt x="0" y="0"/>
                </a:moveTo>
                <a:lnTo>
                  <a:pt x="1639426" y="0"/>
                </a:lnTo>
                <a:lnTo>
                  <a:pt x="1639426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572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43288" y="1908545"/>
            <a:ext cx="2408898" cy="635274"/>
            <a:chOff x="0" y="0"/>
            <a:chExt cx="634442" cy="1673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4442" cy="167315"/>
            </a:xfrm>
            <a:custGeom>
              <a:avLst/>
              <a:gdLst/>
              <a:ahLst/>
              <a:cxnLst/>
              <a:rect r="r" b="b" t="t" l="l"/>
              <a:pathLst>
                <a:path h="167315" w="634442">
                  <a:moveTo>
                    <a:pt x="83657" y="0"/>
                  </a:moveTo>
                  <a:lnTo>
                    <a:pt x="550785" y="0"/>
                  </a:lnTo>
                  <a:cubicBezTo>
                    <a:pt x="572972" y="0"/>
                    <a:pt x="594251" y="8814"/>
                    <a:pt x="609940" y="24503"/>
                  </a:cubicBezTo>
                  <a:cubicBezTo>
                    <a:pt x="625628" y="40192"/>
                    <a:pt x="634442" y="61470"/>
                    <a:pt x="634442" y="83657"/>
                  </a:cubicBezTo>
                  <a:lnTo>
                    <a:pt x="634442" y="83657"/>
                  </a:lnTo>
                  <a:cubicBezTo>
                    <a:pt x="634442" y="129860"/>
                    <a:pt x="596988" y="167315"/>
                    <a:pt x="550785" y="167315"/>
                  </a:cubicBezTo>
                  <a:lnTo>
                    <a:pt x="83657" y="167315"/>
                  </a:lnTo>
                  <a:cubicBezTo>
                    <a:pt x="37455" y="167315"/>
                    <a:pt x="0" y="129860"/>
                    <a:pt x="0" y="83657"/>
                  </a:cubicBezTo>
                  <a:lnTo>
                    <a:pt x="0" y="83657"/>
                  </a:lnTo>
                  <a:cubicBezTo>
                    <a:pt x="0" y="37455"/>
                    <a:pt x="37455" y="0"/>
                    <a:pt x="83657" y="0"/>
                  </a:cubicBezTo>
                  <a:close/>
                </a:path>
              </a:pathLst>
            </a:custGeom>
            <a:solidFill>
              <a:srgbClr val="89759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634442" cy="81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  <a:r>
                <a:rPr lang="en-US" b="true" sz="2609" spc="-1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Customer Data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43288" y="2655886"/>
            <a:ext cx="2408898" cy="619150"/>
            <a:chOff x="0" y="0"/>
            <a:chExt cx="634442" cy="1630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4442" cy="163068"/>
            </a:xfrm>
            <a:custGeom>
              <a:avLst/>
              <a:gdLst/>
              <a:ahLst/>
              <a:cxnLst/>
              <a:rect r="r" b="b" t="t" l="l"/>
              <a:pathLst>
                <a:path h="163068" w="634442">
                  <a:moveTo>
                    <a:pt x="81534" y="0"/>
                  </a:moveTo>
                  <a:lnTo>
                    <a:pt x="552908" y="0"/>
                  </a:lnTo>
                  <a:cubicBezTo>
                    <a:pt x="574532" y="0"/>
                    <a:pt x="595271" y="8590"/>
                    <a:pt x="610561" y="23881"/>
                  </a:cubicBezTo>
                  <a:cubicBezTo>
                    <a:pt x="625852" y="39171"/>
                    <a:pt x="634442" y="59910"/>
                    <a:pt x="634442" y="81534"/>
                  </a:cubicBezTo>
                  <a:lnTo>
                    <a:pt x="634442" y="81534"/>
                  </a:lnTo>
                  <a:cubicBezTo>
                    <a:pt x="634442" y="126564"/>
                    <a:pt x="597938" y="163068"/>
                    <a:pt x="552908" y="163068"/>
                  </a:cubicBezTo>
                  <a:lnTo>
                    <a:pt x="81534" y="163068"/>
                  </a:lnTo>
                  <a:cubicBezTo>
                    <a:pt x="36504" y="163068"/>
                    <a:pt x="0" y="126564"/>
                    <a:pt x="0" y="81534"/>
                  </a:cubicBezTo>
                  <a:lnTo>
                    <a:pt x="0" y="81534"/>
                  </a:lnTo>
                  <a:cubicBezTo>
                    <a:pt x="0" y="36504"/>
                    <a:pt x="36504" y="0"/>
                    <a:pt x="81534" y="0"/>
                  </a:cubicBezTo>
                  <a:close/>
                </a:path>
              </a:pathLst>
            </a:custGeom>
            <a:solidFill>
              <a:srgbClr val="89759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85725"/>
              <a:ext cx="634442" cy="77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  <a:r>
                <a:rPr lang="en-US" b="true" sz="2609" spc="-1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PDF Document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14156" y="2655886"/>
            <a:ext cx="4859724" cy="3086100"/>
            <a:chOff x="0" y="0"/>
            <a:chExt cx="1279927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9927" cy="812800"/>
            </a:xfrm>
            <a:custGeom>
              <a:avLst/>
              <a:gdLst/>
              <a:ahLst/>
              <a:cxnLst/>
              <a:rect r="r" b="b" t="t" l="l"/>
              <a:pathLst>
                <a:path h="812800" w="1279927">
                  <a:moveTo>
                    <a:pt x="81247" y="0"/>
                  </a:moveTo>
                  <a:lnTo>
                    <a:pt x="1198680" y="0"/>
                  </a:lnTo>
                  <a:cubicBezTo>
                    <a:pt x="1220228" y="0"/>
                    <a:pt x="1240894" y="8560"/>
                    <a:pt x="1256131" y="23797"/>
                  </a:cubicBezTo>
                  <a:cubicBezTo>
                    <a:pt x="1271367" y="39033"/>
                    <a:pt x="1279927" y="59699"/>
                    <a:pt x="1279927" y="81247"/>
                  </a:cubicBezTo>
                  <a:lnTo>
                    <a:pt x="1279927" y="731553"/>
                  </a:lnTo>
                  <a:cubicBezTo>
                    <a:pt x="1279927" y="776425"/>
                    <a:pt x="1243552" y="812800"/>
                    <a:pt x="1198680" y="812800"/>
                  </a:cubicBezTo>
                  <a:lnTo>
                    <a:pt x="81247" y="812800"/>
                  </a:lnTo>
                  <a:cubicBezTo>
                    <a:pt x="36376" y="812800"/>
                    <a:pt x="0" y="776425"/>
                    <a:pt x="0" y="731553"/>
                  </a:cubicBezTo>
                  <a:lnTo>
                    <a:pt x="0" y="81247"/>
                  </a:lnTo>
                  <a:cubicBezTo>
                    <a:pt x="0" y="36376"/>
                    <a:pt x="36376" y="0"/>
                    <a:pt x="81247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279927" cy="8128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131"/>
                </a:lnSpc>
              </a:pPr>
              <a:r>
                <a:rPr lang="en-US" sz="260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     </a:t>
              </a:r>
              <a:r>
                <a:rPr lang="en-US" b="true" sz="2609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Data Processing &amp; Feature Engineering:</a:t>
              </a:r>
            </a:p>
            <a:p>
              <a:pPr algn="l" marL="563423" indent="-281711" lvl="1">
                <a:lnSpc>
                  <a:spcPts val="3131"/>
                </a:lnSpc>
                <a:buFont typeface="Arial"/>
                <a:buChar char="•"/>
              </a:pPr>
              <a:r>
                <a:rPr lang="en-US" sz="260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CLV Model training</a:t>
              </a:r>
            </a:p>
            <a:p>
              <a:pPr algn="l" marL="563423" indent="-281711" lvl="1">
                <a:lnSpc>
                  <a:spcPts val="3131"/>
                </a:lnSpc>
                <a:buFont typeface="Arial"/>
                <a:buChar char="•"/>
              </a:pPr>
              <a:r>
                <a:rPr lang="en-US" sz="2609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FAISS Training Index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507923" y="4364098"/>
            <a:ext cx="3585940" cy="1199609"/>
            <a:chOff x="0" y="0"/>
            <a:chExt cx="944445" cy="3159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44445" cy="315946"/>
            </a:xfrm>
            <a:custGeom>
              <a:avLst/>
              <a:gdLst/>
              <a:ahLst/>
              <a:cxnLst/>
              <a:rect r="r" b="b" t="t" l="l"/>
              <a:pathLst>
                <a:path h="315946" w="944445">
                  <a:moveTo>
                    <a:pt x="110107" y="0"/>
                  </a:moveTo>
                  <a:lnTo>
                    <a:pt x="834338" y="0"/>
                  </a:lnTo>
                  <a:cubicBezTo>
                    <a:pt x="895148" y="0"/>
                    <a:pt x="944445" y="49297"/>
                    <a:pt x="944445" y="110107"/>
                  </a:cubicBezTo>
                  <a:lnTo>
                    <a:pt x="944445" y="205839"/>
                  </a:lnTo>
                  <a:cubicBezTo>
                    <a:pt x="944445" y="235041"/>
                    <a:pt x="932844" y="263048"/>
                    <a:pt x="912195" y="283697"/>
                  </a:cubicBezTo>
                  <a:cubicBezTo>
                    <a:pt x="891546" y="304346"/>
                    <a:pt x="863540" y="315946"/>
                    <a:pt x="834338" y="315946"/>
                  </a:cubicBezTo>
                  <a:lnTo>
                    <a:pt x="110107" y="315946"/>
                  </a:lnTo>
                  <a:cubicBezTo>
                    <a:pt x="49297" y="315946"/>
                    <a:pt x="0" y="266650"/>
                    <a:pt x="0" y="205839"/>
                  </a:cubicBezTo>
                  <a:lnTo>
                    <a:pt x="0" y="110107"/>
                  </a:lnTo>
                  <a:cubicBezTo>
                    <a:pt x="0" y="49297"/>
                    <a:pt x="49297" y="0"/>
                    <a:pt x="110107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85725"/>
              <a:ext cx="944445" cy="230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Embedding &amp; Solving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469231" y="1731986"/>
            <a:ext cx="3086100" cy="308610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89759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85725"/>
              <a:ext cx="812800" cy="7270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218"/>
                </a:lnSpc>
              </a:pPr>
              <a:r>
                <a:rPr lang="en-US" b="true" sz="2609" spc="-1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CLV Prediction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123063" y="1731986"/>
            <a:ext cx="3086100" cy="308610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89759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85725"/>
              <a:ext cx="812800" cy="7270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218"/>
                </a:lnSpc>
              </a:pPr>
              <a:r>
                <a:rPr lang="en-US" b="true" sz="2609" spc="-195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RAG Chatbot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33691" y="2756552"/>
            <a:ext cx="2757179" cy="698228"/>
            <a:chOff x="0" y="0"/>
            <a:chExt cx="726171" cy="18389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6171" cy="183895"/>
            </a:xfrm>
            <a:custGeom>
              <a:avLst/>
              <a:gdLst/>
              <a:ahLst/>
              <a:cxnLst/>
              <a:rect r="r" b="b" t="t" l="l"/>
              <a:pathLst>
                <a:path h="183895" w="726171">
                  <a:moveTo>
                    <a:pt x="91948" y="0"/>
                  </a:moveTo>
                  <a:lnTo>
                    <a:pt x="634223" y="0"/>
                  </a:lnTo>
                  <a:cubicBezTo>
                    <a:pt x="658609" y="0"/>
                    <a:pt x="681996" y="9687"/>
                    <a:pt x="699240" y="26931"/>
                  </a:cubicBezTo>
                  <a:cubicBezTo>
                    <a:pt x="716483" y="44174"/>
                    <a:pt x="726171" y="67562"/>
                    <a:pt x="726171" y="91948"/>
                  </a:cubicBezTo>
                  <a:lnTo>
                    <a:pt x="726171" y="91948"/>
                  </a:lnTo>
                  <a:cubicBezTo>
                    <a:pt x="726171" y="142729"/>
                    <a:pt x="685004" y="183895"/>
                    <a:pt x="634223" y="183895"/>
                  </a:cubicBezTo>
                  <a:lnTo>
                    <a:pt x="91948" y="183895"/>
                  </a:lnTo>
                  <a:cubicBezTo>
                    <a:pt x="41166" y="183895"/>
                    <a:pt x="0" y="142729"/>
                    <a:pt x="0" y="91948"/>
                  </a:cubicBezTo>
                  <a:lnTo>
                    <a:pt x="0" y="91948"/>
                  </a:lnTo>
                  <a:cubicBezTo>
                    <a:pt x="0" y="41166"/>
                    <a:pt x="41166" y="0"/>
                    <a:pt x="91948" y="0"/>
                  </a:cubicBezTo>
                  <a:close/>
                </a:path>
              </a:pathLst>
            </a:custGeom>
            <a:solidFill>
              <a:srgbClr val="FFD699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85725"/>
              <a:ext cx="726171" cy="98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Single Prediction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633691" y="3665870"/>
            <a:ext cx="2757179" cy="698228"/>
            <a:chOff x="0" y="0"/>
            <a:chExt cx="726171" cy="18389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6171" cy="183895"/>
            </a:xfrm>
            <a:custGeom>
              <a:avLst/>
              <a:gdLst/>
              <a:ahLst/>
              <a:cxnLst/>
              <a:rect r="r" b="b" t="t" l="l"/>
              <a:pathLst>
                <a:path h="183895" w="726171">
                  <a:moveTo>
                    <a:pt x="91948" y="0"/>
                  </a:moveTo>
                  <a:lnTo>
                    <a:pt x="634223" y="0"/>
                  </a:lnTo>
                  <a:cubicBezTo>
                    <a:pt x="658609" y="0"/>
                    <a:pt x="681996" y="9687"/>
                    <a:pt x="699240" y="26931"/>
                  </a:cubicBezTo>
                  <a:cubicBezTo>
                    <a:pt x="716483" y="44174"/>
                    <a:pt x="726171" y="67562"/>
                    <a:pt x="726171" y="91948"/>
                  </a:cubicBezTo>
                  <a:lnTo>
                    <a:pt x="726171" y="91948"/>
                  </a:lnTo>
                  <a:cubicBezTo>
                    <a:pt x="726171" y="142729"/>
                    <a:pt x="685004" y="183895"/>
                    <a:pt x="634223" y="183895"/>
                  </a:cubicBezTo>
                  <a:lnTo>
                    <a:pt x="91948" y="183895"/>
                  </a:lnTo>
                  <a:cubicBezTo>
                    <a:pt x="41166" y="183895"/>
                    <a:pt x="0" y="142729"/>
                    <a:pt x="0" y="91948"/>
                  </a:cubicBezTo>
                  <a:lnTo>
                    <a:pt x="0" y="91948"/>
                  </a:lnTo>
                  <a:cubicBezTo>
                    <a:pt x="0" y="41166"/>
                    <a:pt x="41166" y="0"/>
                    <a:pt x="91948" y="0"/>
                  </a:cubicBezTo>
                  <a:close/>
                </a:path>
              </a:pathLst>
            </a:custGeom>
            <a:solidFill>
              <a:srgbClr val="FFD699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85725"/>
              <a:ext cx="726171" cy="98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Batch Prediction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287523" y="2756552"/>
            <a:ext cx="2757179" cy="698228"/>
            <a:chOff x="0" y="0"/>
            <a:chExt cx="726171" cy="18389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26171" cy="183895"/>
            </a:xfrm>
            <a:custGeom>
              <a:avLst/>
              <a:gdLst/>
              <a:ahLst/>
              <a:cxnLst/>
              <a:rect r="r" b="b" t="t" l="l"/>
              <a:pathLst>
                <a:path h="183895" w="726171">
                  <a:moveTo>
                    <a:pt x="91948" y="0"/>
                  </a:moveTo>
                  <a:lnTo>
                    <a:pt x="634223" y="0"/>
                  </a:lnTo>
                  <a:cubicBezTo>
                    <a:pt x="658609" y="0"/>
                    <a:pt x="681996" y="9687"/>
                    <a:pt x="699240" y="26931"/>
                  </a:cubicBezTo>
                  <a:cubicBezTo>
                    <a:pt x="716483" y="44174"/>
                    <a:pt x="726171" y="67562"/>
                    <a:pt x="726171" y="91948"/>
                  </a:cubicBezTo>
                  <a:lnTo>
                    <a:pt x="726171" y="91948"/>
                  </a:lnTo>
                  <a:cubicBezTo>
                    <a:pt x="726171" y="142729"/>
                    <a:pt x="685004" y="183895"/>
                    <a:pt x="634223" y="183895"/>
                  </a:cubicBezTo>
                  <a:lnTo>
                    <a:pt x="91948" y="183895"/>
                  </a:lnTo>
                  <a:cubicBezTo>
                    <a:pt x="41166" y="183895"/>
                    <a:pt x="0" y="142729"/>
                    <a:pt x="0" y="91948"/>
                  </a:cubicBezTo>
                  <a:lnTo>
                    <a:pt x="0" y="91948"/>
                  </a:lnTo>
                  <a:cubicBezTo>
                    <a:pt x="0" y="41166"/>
                    <a:pt x="41166" y="0"/>
                    <a:pt x="91948" y="0"/>
                  </a:cubicBezTo>
                  <a:close/>
                </a:path>
              </a:pathLst>
            </a:custGeom>
            <a:solidFill>
              <a:srgbClr val="FFD699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85725"/>
              <a:ext cx="726171" cy="98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Context Retrieval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287523" y="3665870"/>
            <a:ext cx="2757179" cy="698228"/>
            <a:chOff x="0" y="0"/>
            <a:chExt cx="726171" cy="18389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6171" cy="183895"/>
            </a:xfrm>
            <a:custGeom>
              <a:avLst/>
              <a:gdLst/>
              <a:ahLst/>
              <a:cxnLst/>
              <a:rect r="r" b="b" t="t" l="l"/>
              <a:pathLst>
                <a:path h="183895" w="726171">
                  <a:moveTo>
                    <a:pt x="91948" y="0"/>
                  </a:moveTo>
                  <a:lnTo>
                    <a:pt x="634223" y="0"/>
                  </a:lnTo>
                  <a:cubicBezTo>
                    <a:pt x="658609" y="0"/>
                    <a:pt x="681996" y="9687"/>
                    <a:pt x="699240" y="26931"/>
                  </a:cubicBezTo>
                  <a:cubicBezTo>
                    <a:pt x="716483" y="44174"/>
                    <a:pt x="726171" y="67562"/>
                    <a:pt x="726171" y="91948"/>
                  </a:cubicBezTo>
                  <a:lnTo>
                    <a:pt x="726171" y="91948"/>
                  </a:lnTo>
                  <a:cubicBezTo>
                    <a:pt x="726171" y="142729"/>
                    <a:pt x="685004" y="183895"/>
                    <a:pt x="634223" y="183895"/>
                  </a:cubicBezTo>
                  <a:lnTo>
                    <a:pt x="91948" y="183895"/>
                  </a:lnTo>
                  <a:cubicBezTo>
                    <a:pt x="41166" y="183895"/>
                    <a:pt x="0" y="142729"/>
                    <a:pt x="0" y="91948"/>
                  </a:cubicBezTo>
                  <a:lnTo>
                    <a:pt x="0" y="91948"/>
                  </a:lnTo>
                  <a:cubicBezTo>
                    <a:pt x="0" y="41166"/>
                    <a:pt x="41166" y="0"/>
                    <a:pt x="91948" y="0"/>
                  </a:cubicBezTo>
                  <a:close/>
                </a:path>
              </a:pathLst>
            </a:custGeom>
            <a:solidFill>
              <a:srgbClr val="FFD699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85725"/>
              <a:ext cx="726171" cy="98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Answer Generation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flipV="true">
            <a:off x="9573592" y="3124749"/>
            <a:ext cx="89563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7" id="47"/>
          <p:cNvSpPr/>
          <p:nvPr/>
        </p:nvSpPr>
        <p:spPr>
          <a:xfrm>
            <a:off x="9573249" y="4053114"/>
            <a:ext cx="89598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8" id="48"/>
          <p:cNvSpPr/>
          <p:nvPr/>
        </p:nvSpPr>
        <p:spPr>
          <a:xfrm>
            <a:off x="13555331" y="3105666"/>
            <a:ext cx="56773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9" id="49"/>
          <p:cNvSpPr/>
          <p:nvPr/>
        </p:nvSpPr>
        <p:spPr>
          <a:xfrm>
            <a:off x="13555331" y="3995934"/>
            <a:ext cx="56773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0" id="50"/>
          <p:cNvSpPr/>
          <p:nvPr/>
        </p:nvSpPr>
        <p:spPr>
          <a:xfrm flipH="true">
            <a:off x="3252186" y="2965461"/>
            <a:ext cx="146197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1" id="51"/>
          <p:cNvGrpSpPr/>
          <p:nvPr/>
        </p:nvGrpSpPr>
        <p:grpSpPr>
          <a:xfrm rot="0">
            <a:off x="10469231" y="5218055"/>
            <a:ext cx="6790069" cy="2799570"/>
            <a:chOff x="0" y="0"/>
            <a:chExt cx="1788331" cy="73733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88331" cy="737335"/>
            </a:xfrm>
            <a:custGeom>
              <a:avLst/>
              <a:gdLst/>
              <a:ahLst/>
              <a:cxnLst/>
              <a:rect r="r" b="b" t="t" l="l"/>
              <a:pathLst>
                <a:path h="737335" w="1788331">
                  <a:moveTo>
                    <a:pt x="58149" y="0"/>
                  </a:moveTo>
                  <a:lnTo>
                    <a:pt x="1730182" y="0"/>
                  </a:lnTo>
                  <a:cubicBezTo>
                    <a:pt x="1745604" y="0"/>
                    <a:pt x="1760394" y="6126"/>
                    <a:pt x="1771299" y="17032"/>
                  </a:cubicBezTo>
                  <a:cubicBezTo>
                    <a:pt x="1782205" y="27937"/>
                    <a:pt x="1788331" y="42727"/>
                    <a:pt x="1788331" y="58149"/>
                  </a:cubicBezTo>
                  <a:lnTo>
                    <a:pt x="1788331" y="679186"/>
                  </a:lnTo>
                  <a:cubicBezTo>
                    <a:pt x="1788331" y="694608"/>
                    <a:pt x="1782205" y="709399"/>
                    <a:pt x="1771299" y="720304"/>
                  </a:cubicBezTo>
                  <a:cubicBezTo>
                    <a:pt x="1760394" y="731209"/>
                    <a:pt x="1745604" y="737335"/>
                    <a:pt x="1730182" y="737335"/>
                  </a:cubicBezTo>
                  <a:lnTo>
                    <a:pt x="58149" y="737335"/>
                  </a:lnTo>
                  <a:cubicBezTo>
                    <a:pt x="42727" y="737335"/>
                    <a:pt x="27937" y="731209"/>
                    <a:pt x="17032" y="720304"/>
                  </a:cubicBezTo>
                  <a:cubicBezTo>
                    <a:pt x="6126" y="709399"/>
                    <a:pt x="0" y="694608"/>
                    <a:pt x="0" y="679186"/>
                  </a:cubicBezTo>
                  <a:lnTo>
                    <a:pt x="0" y="58149"/>
                  </a:lnTo>
                  <a:cubicBezTo>
                    <a:pt x="0" y="42727"/>
                    <a:pt x="6126" y="27937"/>
                    <a:pt x="17032" y="17032"/>
                  </a:cubicBezTo>
                  <a:cubicBezTo>
                    <a:pt x="27937" y="6126"/>
                    <a:pt x="42727" y="0"/>
                    <a:pt x="58149" y="0"/>
                  </a:cubicBezTo>
                  <a:close/>
                </a:path>
              </a:pathLst>
            </a:custGeom>
            <a:solidFill>
              <a:srgbClr val="CAF5F7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47625"/>
              <a:ext cx="1788331" cy="68971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609"/>
                </a:lnSpc>
              </a:pPr>
              <a:r>
                <a:rPr lang="en-US" b="true" sz="2609" spc="-195" u="sng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Validation and Pre processing</a:t>
              </a:r>
            </a:p>
            <a:p>
              <a:pPr algn="l" marL="563423" indent="-281711" lvl="1">
                <a:lnSpc>
                  <a:spcPts val="2609"/>
                </a:lnSpc>
                <a:buFont typeface="Arial"/>
                <a:buChar char="•"/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File Validation</a:t>
              </a:r>
            </a:p>
            <a:p>
              <a:pPr algn="l" marL="563423" indent="-281711" lvl="1">
                <a:lnSpc>
                  <a:spcPts val="2609"/>
                </a:lnSpc>
                <a:buFont typeface="Arial"/>
                <a:buChar char="•"/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Data cleaning</a:t>
              </a:r>
            </a:p>
            <a:p>
              <a:pPr algn="l" marL="563423" indent="-281711" lvl="1">
                <a:lnSpc>
                  <a:spcPts val="2609"/>
                </a:lnSpc>
                <a:buFont typeface="Arial"/>
                <a:buChar char="•"/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Duplicate</a:t>
              </a:r>
            </a:p>
            <a:p>
              <a:pPr algn="l" marL="563423" indent="-281711" lvl="1">
                <a:lnSpc>
                  <a:spcPts val="2609"/>
                </a:lnSpc>
                <a:buFont typeface="Arial"/>
                <a:buChar char="•"/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Handling</a:t>
              </a:r>
            </a:p>
            <a:p>
              <a:pPr algn="l" marL="563423" indent="-281711" lvl="1">
                <a:lnSpc>
                  <a:spcPts val="2609"/>
                </a:lnSpc>
                <a:buFont typeface="Arial"/>
                <a:buChar char="•"/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Missing value</a:t>
              </a:r>
            </a:p>
            <a:p>
              <a:pPr algn="l" marL="563423" indent="-281711" lvl="1">
                <a:lnSpc>
                  <a:spcPts val="2609"/>
                </a:lnSpc>
                <a:buFont typeface="Arial"/>
                <a:buChar char="•"/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Treatment</a:t>
              </a:r>
            </a:p>
            <a:p>
              <a:pPr algn="l" marL="563423" indent="-281711" lvl="1">
                <a:lnSpc>
                  <a:spcPts val="2609"/>
                </a:lnSpc>
                <a:buFont typeface="Arial"/>
                <a:buChar char="•"/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Data Cleaning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flipH="true">
            <a:off x="12012281" y="4818086"/>
            <a:ext cx="0" cy="39996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5" id="55"/>
          <p:cNvGrpSpPr/>
          <p:nvPr/>
        </p:nvGrpSpPr>
        <p:grpSpPr>
          <a:xfrm rot="0">
            <a:off x="5601613" y="6023375"/>
            <a:ext cx="3086100" cy="934272"/>
            <a:chOff x="0" y="0"/>
            <a:chExt cx="812800" cy="24606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246063"/>
            </a:xfrm>
            <a:custGeom>
              <a:avLst/>
              <a:gdLst/>
              <a:ahLst/>
              <a:cxnLst/>
              <a:rect r="r" b="b" t="t" l="l"/>
              <a:pathLst>
                <a:path h="24606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46063"/>
                  </a:lnTo>
                  <a:lnTo>
                    <a:pt x="0" y="246063"/>
                  </a:ln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85725"/>
              <a:ext cx="812800" cy="160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FAISS Vector Database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>
            <a:off x="8625789" y="6448152"/>
            <a:ext cx="1781938" cy="4235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9" id="59"/>
          <p:cNvSpPr/>
          <p:nvPr/>
        </p:nvSpPr>
        <p:spPr>
          <a:xfrm>
            <a:off x="7144663" y="5782474"/>
            <a:ext cx="0" cy="24090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0" id="60"/>
          <p:cNvSpPr/>
          <p:nvPr/>
        </p:nvSpPr>
        <p:spPr>
          <a:xfrm>
            <a:off x="7144663" y="6957646"/>
            <a:ext cx="0" cy="96459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1" id="61"/>
          <p:cNvSpPr/>
          <p:nvPr/>
        </p:nvSpPr>
        <p:spPr>
          <a:xfrm flipH="true">
            <a:off x="7144663" y="7415272"/>
            <a:ext cx="326306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2" id="62"/>
          <p:cNvGrpSpPr/>
          <p:nvPr/>
        </p:nvGrpSpPr>
        <p:grpSpPr>
          <a:xfrm rot="0">
            <a:off x="843288" y="8017625"/>
            <a:ext cx="9792931" cy="2055089"/>
            <a:chOff x="0" y="0"/>
            <a:chExt cx="2579208" cy="54125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79208" cy="541258"/>
            </a:xfrm>
            <a:custGeom>
              <a:avLst/>
              <a:gdLst/>
              <a:ahLst/>
              <a:cxnLst/>
              <a:rect r="r" b="b" t="t" l="l"/>
              <a:pathLst>
                <a:path h="541258" w="2579208">
                  <a:moveTo>
                    <a:pt x="40319" y="0"/>
                  </a:moveTo>
                  <a:lnTo>
                    <a:pt x="2538890" y="0"/>
                  </a:lnTo>
                  <a:cubicBezTo>
                    <a:pt x="2561157" y="0"/>
                    <a:pt x="2579208" y="18051"/>
                    <a:pt x="2579208" y="40319"/>
                  </a:cubicBezTo>
                  <a:lnTo>
                    <a:pt x="2579208" y="500939"/>
                  </a:lnTo>
                  <a:cubicBezTo>
                    <a:pt x="2579208" y="511632"/>
                    <a:pt x="2574960" y="521888"/>
                    <a:pt x="2567399" y="529449"/>
                  </a:cubicBezTo>
                  <a:cubicBezTo>
                    <a:pt x="2559838" y="537010"/>
                    <a:pt x="2549583" y="541258"/>
                    <a:pt x="2538890" y="541258"/>
                  </a:cubicBezTo>
                  <a:lnTo>
                    <a:pt x="40319" y="541258"/>
                  </a:lnTo>
                  <a:cubicBezTo>
                    <a:pt x="29625" y="541258"/>
                    <a:pt x="19370" y="537010"/>
                    <a:pt x="11809" y="529449"/>
                  </a:cubicBezTo>
                  <a:cubicBezTo>
                    <a:pt x="4248" y="521888"/>
                    <a:pt x="0" y="511632"/>
                    <a:pt x="0" y="500939"/>
                  </a:cubicBezTo>
                  <a:lnTo>
                    <a:pt x="0" y="40319"/>
                  </a:lnTo>
                  <a:cubicBezTo>
                    <a:pt x="0" y="29625"/>
                    <a:pt x="4248" y="19370"/>
                    <a:pt x="11809" y="11809"/>
                  </a:cubicBezTo>
                  <a:cubicBezTo>
                    <a:pt x="19370" y="4248"/>
                    <a:pt x="29625" y="0"/>
                    <a:pt x="40319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85725"/>
              <a:ext cx="2579208" cy="45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18222" y="8120558"/>
            <a:ext cx="1967827" cy="1849222"/>
            <a:chOff x="0" y="0"/>
            <a:chExt cx="518275" cy="48703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18275" cy="487038"/>
            </a:xfrm>
            <a:custGeom>
              <a:avLst/>
              <a:gdLst/>
              <a:ahLst/>
              <a:cxnLst/>
              <a:rect r="r" b="b" t="t" l="l"/>
              <a:pathLst>
                <a:path h="487038" w="518275">
                  <a:moveTo>
                    <a:pt x="200647" y="0"/>
                  </a:moveTo>
                  <a:lnTo>
                    <a:pt x="317629" y="0"/>
                  </a:lnTo>
                  <a:cubicBezTo>
                    <a:pt x="370844" y="0"/>
                    <a:pt x="421879" y="21139"/>
                    <a:pt x="459507" y="58768"/>
                  </a:cubicBezTo>
                  <a:cubicBezTo>
                    <a:pt x="497136" y="96397"/>
                    <a:pt x="518275" y="147432"/>
                    <a:pt x="518275" y="200647"/>
                  </a:cubicBezTo>
                  <a:lnTo>
                    <a:pt x="518275" y="286391"/>
                  </a:lnTo>
                  <a:cubicBezTo>
                    <a:pt x="518275" y="397205"/>
                    <a:pt x="428443" y="487038"/>
                    <a:pt x="317629" y="487038"/>
                  </a:cubicBezTo>
                  <a:lnTo>
                    <a:pt x="200647" y="487038"/>
                  </a:lnTo>
                  <a:cubicBezTo>
                    <a:pt x="89833" y="487038"/>
                    <a:pt x="0" y="397205"/>
                    <a:pt x="0" y="286391"/>
                  </a:cubicBezTo>
                  <a:lnTo>
                    <a:pt x="0" y="200647"/>
                  </a:lnTo>
                  <a:cubicBezTo>
                    <a:pt x="0" y="89833"/>
                    <a:pt x="89833" y="0"/>
                    <a:pt x="200647" y="0"/>
                  </a:cubicBezTo>
                  <a:close/>
                </a:path>
              </a:pathLst>
            </a:custGeom>
            <a:solidFill>
              <a:srgbClr val="5CA3FF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85725"/>
              <a:ext cx="518275" cy="401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CLV Scores and Segments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4562662" y="53991"/>
            <a:ext cx="10138684" cy="100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b="true" sz="6700" spc="-281" u="sng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SYSTEM ARCHITECTURE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4617700" y="8120558"/>
            <a:ext cx="1967827" cy="1849222"/>
            <a:chOff x="0" y="0"/>
            <a:chExt cx="518275" cy="48703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18275" cy="487038"/>
            </a:xfrm>
            <a:custGeom>
              <a:avLst/>
              <a:gdLst/>
              <a:ahLst/>
              <a:cxnLst/>
              <a:rect r="r" b="b" t="t" l="l"/>
              <a:pathLst>
                <a:path h="487038" w="518275">
                  <a:moveTo>
                    <a:pt x="200647" y="0"/>
                  </a:moveTo>
                  <a:lnTo>
                    <a:pt x="317629" y="0"/>
                  </a:lnTo>
                  <a:cubicBezTo>
                    <a:pt x="370844" y="0"/>
                    <a:pt x="421879" y="21139"/>
                    <a:pt x="459507" y="58768"/>
                  </a:cubicBezTo>
                  <a:cubicBezTo>
                    <a:pt x="497136" y="96397"/>
                    <a:pt x="518275" y="147432"/>
                    <a:pt x="518275" y="200647"/>
                  </a:cubicBezTo>
                  <a:lnTo>
                    <a:pt x="518275" y="286391"/>
                  </a:lnTo>
                  <a:cubicBezTo>
                    <a:pt x="518275" y="397205"/>
                    <a:pt x="428443" y="487038"/>
                    <a:pt x="317629" y="487038"/>
                  </a:cubicBezTo>
                  <a:lnTo>
                    <a:pt x="200647" y="487038"/>
                  </a:lnTo>
                  <a:cubicBezTo>
                    <a:pt x="89833" y="487038"/>
                    <a:pt x="0" y="397205"/>
                    <a:pt x="0" y="286391"/>
                  </a:cubicBezTo>
                  <a:lnTo>
                    <a:pt x="0" y="200647"/>
                  </a:lnTo>
                  <a:cubicBezTo>
                    <a:pt x="0" y="89833"/>
                    <a:pt x="89833" y="0"/>
                    <a:pt x="200647" y="0"/>
                  </a:cubicBezTo>
                  <a:close/>
                </a:path>
              </a:pathLst>
            </a:custGeom>
            <a:solidFill>
              <a:srgbClr val="5CA3F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85725"/>
              <a:ext cx="518275" cy="401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Behavioral Clusters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719002" y="8120558"/>
            <a:ext cx="2688725" cy="1849222"/>
            <a:chOff x="0" y="0"/>
            <a:chExt cx="708142" cy="48703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08142" cy="487038"/>
            </a:xfrm>
            <a:custGeom>
              <a:avLst/>
              <a:gdLst/>
              <a:ahLst/>
              <a:cxnLst/>
              <a:rect r="r" b="b" t="t" l="l"/>
              <a:pathLst>
                <a:path h="487038" w="708142">
                  <a:moveTo>
                    <a:pt x="146849" y="0"/>
                  </a:moveTo>
                  <a:lnTo>
                    <a:pt x="561292" y="0"/>
                  </a:lnTo>
                  <a:cubicBezTo>
                    <a:pt x="642395" y="0"/>
                    <a:pt x="708142" y="65747"/>
                    <a:pt x="708142" y="146849"/>
                  </a:cubicBezTo>
                  <a:lnTo>
                    <a:pt x="708142" y="340188"/>
                  </a:lnTo>
                  <a:cubicBezTo>
                    <a:pt x="708142" y="421291"/>
                    <a:pt x="642395" y="487038"/>
                    <a:pt x="561292" y="487038"/>
                  </a:cubicBezTo>
                  <a:lnTo>
                    <a:pt x="146849" y="487038"/>
                  </a:lnTo>
                  <a:cubicBezTo>
                    <a:pt x="65747" y="487038"/>
                    <a:pt x="0" y="421291"/>
                    <a:pt x="0" y="340188"/>
                  </a:cubicBezTo>
                  <a:lnTo>
                    <a:pt x="0" y="146849"/>
                  </a:lnTo>
                  <a:cubicBezTo>
                    <a:pt x="0" y="65747"/>
                    <a:pt x="65747" y="0"/>
                    <a:pt x="146849" y="0"/>
                  </a:cubicBezTo>
                  <a:close/>
                </a:path>
              </a:pathLst>
            </a:custGeom>
            <a:solidFill>
              <a:srgbClr val="5CA3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85725"/>
              <a:ext cx="708142" cy="401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63423" indent="-281711" lvl="1">
                <a:lnSpc>
                  <a:spcPts val="2218"/>
                </a:lnSpc>
                <a:buFont typeface="Arial"/>
                <a:buChar char="•"/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Missing value treatment</a:t>
              </a:r>
            </a:p>
            <a:p>
              <a:pPr algn="l" marL="563423" indent="-281711" lvl="1">
                <a:lnSpc>
                  <a:spcPts val="2218"/>
                </a:lnSpc>
                <a:buFont typeface="Arial"/>
                <a:buChar char="•"/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Data cleaning</a:t>
              </a:r>
            </a:p>
          </p:txBody>
        </p:sp>
      </p:grpSp>
      <p:sp>
        <p:nvSpPr>
          <p:cNvPr name="AutoShape 75" id="75"/>
          <p:cNvSpPr/>
          <p:nvPr/>
        </p:nvSpPr>
        <p:spPr>
          <a:xfrm>
            <a:off x="3486049" y="9045169"/>
            <a:ext cx="1131651" cy="1308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6" id="76"/>
          <p:cNvSpPr/>
          <p:nvPr/>
        </p:nvSpPr>
        <p:spPr>
          <a:xfrm>
            <a:off x="6585527" y="9045169"/>
            <a:ext cx="105011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77" id="77"/>
          <p:cNvSpPr txBox="true"/>
          <p:nvPr/>
        </p:nvSpPr>
        <p:spPr>
          <a:xfrm rot="0">
            <a:off x="211142" y="5591882"/>
            <a:ext cx="800327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Offline-----------------------------------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62610" y="1356730"/>
            <a:ext cx="621315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Sources-------------------------------------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452435" y="1255448"/>
            <a:ext cx="96250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Online</a:t>
            </a:r>
          </a:p>
        </p:txBody>
      </p:sp>
      <p:sp>
        <p:nvSpPr>
          <p:cNvPr name="TextBox 80" id="80"/>
          <p:cNvSpPr txBox="true"/>
          <p:nvPr/>
        </p:nvSpPr>
        <p:spPr>
          <a:xfrm rot="-5400000">
            <a:off x="6696728" y="4322674"/>
            <a:ext cx="654424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----------------------------------------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615438" y="1252879"/>
            <a:ext cx="6576867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Inference and application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768940">
            <a:off x="-1315101" y="-4221648"/>
            <a:ext cx="20918202" cy="18730295"/>
          </a:xfrm>
          <a:custGeom>
            <a:avLst/>
            <a:gdLst/>
            <a:ahLst/>
            <a:cxnLst/>
            <a:rect r="r" b="b" t="t" l="l"/>
            <a:pathLst>
              <a:path h="18730295" w="20918202">
                <a:moveTo>
                  <a:pt x="15187984" y="0"/>
                </a:moveTo>
                <a:lnTo>
                  <a:pt x="0" y="10187054"/>
                </a:lnTo>
                <a:lnTo>
                  <a:pt x="5730218" y="18730296"/>
                </a:lnTo>
                <a:lnTo>
                  <a:pt x="20918202" y="8543242"/>
                </a:lnTo>
                <a:lnTo>
                  <a:pt x="15187984" y="0"/>
                </a:lnTo>
                <a:close/>
              </a:path>
            </a:pathLst>
          </a:custGeom>
          <a:blipFill>
            <a:blip r:embed="rId2"/>
            <a:stretch>
              <a:fillRect l="-2753" t="0" r="-3164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457765">
            <a:off x="-425717" y="-9272866"/>
            <a:ext cx="19140231" cy="1914023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85414" y="696555"/>
            <a:ext cx="15317172" cy="153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b="true" sz="10286" spc="-432" u="sng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Technology Stack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182836" y="681038"/>
            <a:ext cx="1639426" cy="347662"/>
          </a:xfrm>
          <a:custGeom>
            <a:avLst/>
            <a:gdLst/>
            <a:ahLst/>
            <a:cxnLst/>
            <a:rect r="r" b="b" t="t" l="l"/>
            <a:pathLst>
              <a:path h="347662" w="1639426">
                <a:moveTo>
                  <a:pt x="0" y="0"/>
                </a:moveTo>
                <a:lnTo>
                  <a:pt x="1639426" y="0"/>
                </a:lnTo>
                <a:lnTo>
                  <a:pt x="1639426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57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71111" y="2991413"/>
            <a:ext cx="15231523" cy="571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3"/>
              </a:lnSpc>
            </a:pPr>
            <a:r>
              <a:rPr lang="en-US" sz="3609" spc="-270">
                <a:solidFill>
                  <a:srgbClr val="5CA3FF"/>
                </a:solidFill>
                <a:latin typeface="Aileron"/>
                <a:ea typeface="Aileron"/>
                <a:cs typeface="Aileron"/>
                <a:sym typeface="Aileron"/>
              </a:rPr>
              <a:t>Core Prrogramming language</a:t>
            </a:r>
            <a:r>
              <a:rPr lang="en-US" sz="3609" spc="-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- Python</a:t>
            </a:r>
          </a:p>
          <a:p>
            <a:pPr algn="l">
              <a:lnSpc>
                <a:spcPts val="5053"/>
              </a:lnSpc>
            </a:pPr>
            <a:r>
              <a:rPr lang="en-US" sz="3609" spc="-270">
                <a:solidFill>
                  <a:srgbClr val="5CA3FF"/>
                </a:solidFill>
                <a:latin typeface="Aileron"/>
                <a:ea typeface="Aileron"/>
                <a:cs typeface="Aileron"/>
                <a:sym typeface="Aileron"/>
              </a:rPr>
              <a:t>CSV Files</a:t>
            </a:r>
            <a:r>
              <a:rPr lang="en-US" sz="3609" spc="-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- Input</a:t>
            </a:r>
          </a:p>
          <a:p>
            <a:pPr algn="l">
              <a:lnSpc>
                <a:spcPts val="5053"/>
              </a:lnSpc>
            </a:pPr>
            <a:r>
              <a:rPr lang="en-US" sz="3609" spc="-270">
                <a:solidFill>
                  <a:srgbClr val="5CA3FF"/>
                </a:solidFill>
                <a:latin typeface="Aileron"/>
                <a:ea typeface="Aileron"/>
                <a:cs typeface="Aileron"/>
                <a:sym typeface="Aileron"/>
              </a:rPr>
              <a:t>Pandas, Numpy</a:t>
            </a:r>
            <a:r>
              <a:rPr lang="en-US" sz="3609" spc="-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- data preprocessing and feature engineering</a:t>
            </a:r>
          </a:p>
          <a:p>
            <a:pPr algn="l">
              <a:lnSpc>
                <a:spcPts val="5053"/>
              </a:lnSpc>
            </a:pPr>
            <a:r>
              <a:rPr lang="en-US" sz="3609" spc="-270">
                <a:solidFill>
                  <a:srgbClr val="5CA3FF"/>
                </a:solidFill>
                <a:latin typeface="Aileron"/>
                <a:ea typeface="Aileron"/>
                <a:cs typeface="Aileron"/>
                <a:sym typeface="Aileron"/>
              </a:rPr>
              <a:t>RFM Analysis</a:t>
            </a:r>
            <a:r>
              <a:rPr lang="en-US" sz="3609" spc="-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- recency, frequency, monetary features</a:t>
            </a:r>
          </a:p>
          <a:p>
            <a:pPr algn="l">
              <a:lnSpc>
                <a:spcPts val="5053"/>
              </a:lnSpc>
            </a:pPr>
            <a:r>
              <a:rPr lang="en-US" sz="3609" spc="-270">
                <a:solidFill>
                  <a:srgbClr val="5CA3FF"/>
                </a:solidFill>
                <a:latin typeface="Aileron"/>
                <a:ea typeface="Aileron"/>
                <a:cs typeface="Aileron"/>
                <a:sym typeface="Aileron"/>
              </a:rPr>
              <a:t>Scikit learn</a:t>
            </a:r>
            <a:r>
              <a:rPr lang="en-US" sz="3609" spc="-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-CLV Regression model, Kmeans clustering, Silhouette analysis, Feature scaling</a:t>
            </a:r>
          </a:p>
          <a:p>
            <a:pPr algn="l">
              <a:lnSpc>
                <a:spcPts val="5053"/>
              </a:lnSpc>
            </a:pPr>
            <a:r>
              <a:rPr lang="en-US" sz="3609" spc="-270">
                <a:solidFill>
                  <a:srgbClr val="5CA3FF"/>
                </a:solidFill>
                <a:latin typeface="Aileron"/>
                <a:ea typeface="Aileron"/>
                <a:cs typeface="Aileron"/>
                <a:sym typeface="Aileron"/>
              </a:rPr>
              <a:t>Phi-2(local model) </a:t>
            </a:r>
            <a:r>
              <a:rPr lang="en-US" sz="3609" spc="-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-Text embeddings, RAG answer generation</a:t>
            </a:r>
          </a:p>
          <a:p>
            <a:pPr algn="l">
              <a:lnSpc>
                <a:spcPts val="5053"/>
              </a:lnSpc>
            </a:pPr>
            <a:r>
              <a:rPr lang="en-US" sz="3609" spc="-270">
                <a:solidFill>
                  <a:srgbClr val="5CA3FF"/>
                </a:solidFill>
                <a:latin typeface="Aileron"/>
                <a:ea typeface="Aileron"/>
                <a:cs typeface="Aileron"/>
                <a:sym typeface="Aileron"/>
              </a:rPr>
              <a:t>FAISS</a:t>
            </a:r>
            <a:r>
              <a:rPr lang="en-US" sz="3609" spc="-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- vector similarity search and retrieval</a:t>
            </a:r>
          </a:p>
          <a:p>
            <a:pPr algn="l">
              <a:lnSpc>
                <a:spcPts val="5053"/>
              </a:lnSpc>
            </a:pPr>
            <a:r>
              <a:rPr lang="en-US" sz="3609" spc="-270">
                <a:solidFill>
                  <a:srgbClr val="5CA3FF"/>
                </a:solidFill>
                <a:latin typeface="Aileron"/>
                <a:ea typeface="Aileron"/>
                <a:cs typeface="Aileron"/>
                <a:sym typeface="Aileron"/>
              </a:rPr>
              <a:t>RAG pipeline</a:t>
            </a:r>
            <a:r>
              <a:rPr lang="en-US" sz="3609" spc="-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- chunking amd retrieval augmented generation</a:t>
            </a:r>
          </a:p>
          <a:p>
            <a:pPr algn="l">
              <a:lnSpc>
                <a:spcPts val="5053"/>
              </a:lnSpc>
              <a:spcBef>
                <a:spcPct val="0"/>
              </a:spcBef>
            </a:pPr>
            <a:r>
              <a:rPr lang="en-US" sz="3609" spc="-270">
                <a:solidFill>
                  <a:srgbClr val="5CA3FF"/>
                </a:solidFill>
                <a:latin typeface="Aileron"/>
                <a:ea typeface="Aileron"/>
                <a:cs typeface="Aileron"/>
                <a:sym typeface="Aileron"/>
              </a:rPr>
              <a:t>Streamlit</a:t>
            </a:r>
            <a:r>
              <a:rPr lang="en-US" sz="3609" spc="-27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- web UI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8463395">
            <a:off x="-1200863" y="-4604429"/>
            <a:ext cx="20689726" cy="19495858"/>
          </a:xfrm>
          <a:custGeom>
            <a:avLst/>
            <a:gdLst/>
            <a:ahLst/>
            <a:cxnLst/>
            <a:rect r="r" b="b" t="t" l="l"/>
            <a:pathLst>
              <a:path h="19495858" w="20689726">
                <a:moveTo>
                  <a:pt x="6465919" y="19495858"/>
                </a:moveTo>
                <a:lnTo>
                  <a:pt x="20689726" y="8000892"/>
                </a:lnTo>
                <a:lnTo>
                  <a:pt x="14223807" y="0"/>
                </a:lnTo>
                <a:lnTo>
                  <a:pt x="0" y="11494966"/>
                </a:lnTo>
                <a:lnTo>
                  <a:pt x="6465919" y="19495858"/>
                </a:lnTo>
                <a:close/>
              </a:path>
            </a:pathLst>
          </a:custGeom>
          <a:blipFill>
            <a:blip r:embed="rId2"/>
            <a:stretch>
              <a:fillRect l="-4483" t="0" r="-3694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10451951" y="3721633"/>
            <a:ext cx="10178180" cy="1017818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12286055" y="5508827"/>
            <a:ext cx="6657413" cy="665741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801163" y="744455"/>
            <a:ext cx="10083044" cy="132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9"/>
              </a:lnSpc>
            </a:pPr>
            <a:r>
              <a:rPr lang="en-US" b="true" sz="8965" spc="-376" u="sng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182836" y="681038"/>
            <a:ext cx="1639426" cy="347662"/>
          </a:xfrm>
          <a:custGeom>
            <a:avLst/>
            <a:gdLst/>
            <a:ahLst/>
            <a:cxnLst/>
            <a:rect r="r" b="b" t="t" l="l"/>
            <a:pathLst>
              <a:path h="347662" w="1639426">
                <a:moveTo>
                  <a:pt x="0" y="0"/>
                </a:moveTo>
                <a:lnTo>
                  <a:pt x="1639426" y="0"/>
                </a:lnTo>
                <a:lnTo>
                  <a:pt x="1639426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572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932657" y="2416781"/>
            <a:ext cx="9660190" cy="6841519"/>
            <a:chOff x="0" y="0"/>
            <a:chExt cx="12880253" cy="912202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201039" y="0"/>
              <a:ext cx="12679214" cy="2439089"/>
              <a:chOff x="0" y="0"/>
              <a:chExt cx="2504536" cy="48179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504536" cy="481795"/>
              </a:xfrm>
              <a:custGeom>
                <a:avLst/>
                <a:gdLst/>
                <a:ahLst/>
                <a:cxnLst/>
                <a:rect r="r" b="b" t="t" l="l"/>
                <a:pathLst>
                  <a:path h="481795" w="2504536">
                    <a:moveTo>
                      <a:pt x="41521" y="0"/>
                    </a:moveTo>
                    <a:lnTo>
                      <a:pt x="2463015" y="0"/>
                    </a:lnTo>
                    <a:cubicBezTo>
                      <a:pt x="2474027" y="0"/>
                      <a:pt x="2484588" y="4374"/>
                      <a:pt x="2492375" y="12161"/>
                    </a:cubicBezTo>
                    <a:cubicBezTo>
                      <a:pt x="2500162" y="19948"/>
                      <a:pt x="2504536" y="30509"/>
                      <a:pt x="2504536" y="41521"/>
                    </a:cubicBezTo>
                    <a:lnTo>
                      <a:pt x="2504536" y="440275"/>
                    </a:lnTo>
                    <a:cubicBezTo>
                      <a:pt x="2504536" y="451287"/>
                      <a:pt x="2500162" y="461848"/>
                      <a:pt x="2492375" y="469634"/>
                    </a:cubicBezTo>
                    <a:cubicBezTo>
                      <a:pt x="2484588" y="477421"/>
                      <a:pt x="2474027" y="481795"/>
                      <a:pt x="2463015" y="481795"/>
                    </a:cubicBezTo>
                    <a:lnTo>
                      <a:pt x="41521" y="481795"/>
                    </a:lnTo>
                    <a:cubicBezTo>
                      <a:pt x="30509" y="481795"/>
                      <a:pt x="19948" y="477421"/>
                      <a:pt x="12161" y="469634"/>
                    </a:cubicBezTo>
                    <a:cubicBezTo>
                      <a:pt x="4374" y="461848"/>
                      <a:pt x="0" y="451287"/>
                      <a:pt x="0" y="440275"/>
                    </a:cubicBezTo>
                    <a:lnTo>
                      <a:pt x="0" y="41521"/>
                    </a:lnTo>
                    <a:cubicBezTo>
                      <a:pt x="0" y="30509"/>
                      <a:pt x="4374" y="19948"/>
                      <a:pt x="12161" y="12161"/>
                    </a:cubicBezTo>
                    <a:cubicBezTo>
                      <a:pt x="19948" y="4374"/>
                      <a:pt x="30509" y="0"/>
                      <a:pt x="41521" y="0"/>
                    </a:cubicBezTo>
                    <a:close/>
                  </a:path>
                </a:pathLst>
              </a:custGeom>
              <a:solidFill>
                <a:srgbClr val="FFADA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85725"/>
                <a:ext cx="2504536" cy="3960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18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01039" y="2914292"/>
              <a:ext cx="12679214" cy="2048670"/>
              <a:chOff x="0" y="0"/>
              <a:chExt cx="2504536" cy="4046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504536" cy="404675"/>
              </a:xfrm>
              <a:custGeom>
                <a:avLst/>
                <a:gdLst/>
                <a:ahLst/>
                <a:cxnLst/>
                <a:rect r="r" b="b" t="t" l="l"/>
                <a:pathLst>
                  <a:path h="404675" w="2504536">
                    <a:moveTo>
                      <a:pt x="41521" y="0"/>
                    </a:moveTo>
                    <a:lnTo>
                      <a:pt x="2463015" y="0"/>
                    </a:lnTo>
                    <a:cubicBezTo>
                      <a:pt x="2474027" y="0"/>
                      <a:pt x="2484588" y="4374"/>
                      <a:pt x="2492375" y="12161"/>
                    </a:cubicBezTo>
                    <a:cubicBezTo>
                      <a:pt x="2500162" y="19948"/>
                      <a:pt x="2504536" y="30509"/>
                      <a:pt x="2504536" y="41521"/>
                    </a:cubicBezTo>
                    <a:lnTo>
                      <a:pt x="2504536" y="363155"/>
                    </a:lnTo>
                    <a:cubicBezTo>
                      <a:pt x="2504536" y="374167"/>
                      <a:pt x="2500162" y="384728"/>
                      <a:pt x="2492375" y="392514"/>
                    </a:cubicBezTo>
                    <a:cubicBezTo>
                      <a:pt x="2484588" y="400301"/>
                      <a:pt x="2474027" y="404675"/>
                      <a:pt x="2463015" y="404675"/>
                    </a:cubicBezTo>
                    <a:lnTo>
                      <a:pt x="41521" y="404675"/>
                    </a:lnTo>
                    <a:cubicBezTo>
                      <a:pt x="30509" y="404675"/>
                      <a:pt x="19948" y="400301"/>
                      <a:pt x="12161" y="392514"/>
                    </a:cubicBezTo>
                    <a:cubicBezTo>
                      <a:pt x="4374" y="384728"/>
                      <a:pt x="0" y="374167"/>
                      <a:pt x="0" y="363155"/>
                    </a:cubicBezTo>
                    <a:lnTo>
                      <a:pt x="0" y="41521"/>
                    </a:lnTo>
                    <a:cubicBezTo>
                      <a:pt x="0" y="30509"/>
                      <a:pt x="4374" y="19948"/>
                      <a:pt x="12161" y="12161"/>
                    </a:cubicBezTo>
                    <a:cubicBezTo>
                      <a:pt x="19948" y="4374"/>
                      <a:pt x="30509" y="0"/>
                      <a:pt x="41521" y="0"/>
                    </a:cubicBezTo>
                    <a:close/>
                  </a:path>
                </a:pathLst>
              </a:custGeom>
              <a:solidFill>
                <a:srgbClr val="FFC09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85725"/>
                <a:ext cx="2504536" cy="318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18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01039" y="5432861"/>
              <a:ext cx="12679214" cy="2917680"/>
              <a:chOff x="0" y="0"/>
              <a:chExt cx="2504536" cy="57633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504536" cy="576332"/>
              </a:xfrm>
              <a:custGeom>
                <a:avLst/>
                <a:gdLst/>
                <a:ahLst/>
                <a:cxnLst/>
                <a:rect r="r" b="b" t="t" l="l"/>
                <a:pathLst>
                  <a:path h="576332" w="2504536">
                    <a:moveTo>
                      <a:pt x="41521" y="0"/>
                    </a:moveTo>
                    <a:lnTo>
                      <a:pt x="2463015" y="0"/>
                    </a:lnTo>
                    <a:cubicBezTo>
                      <a:pt x="2474027" y="0"/>
                      <a:pt x="2484588" y="4374"/>
                      <a:pt x="2492375" y="12161"/>
                    </a:cubicBezTo>
                    <a:cubicBezTo>
                      <a:pt x="2500162" y="19948"/>
                      <a:pt x="2504536" y="30509"/>
                      <a:pt x="2504536" y="41521"/>
                    </a:cubicBezTo>
                    <a:lnTo>
                      <a:pt x="2504536" y="534811"/>
                    </a:lnTo>
                    <a:cubicBezTo>
                      <a:pt x="2504536" y="545823"/>
                      <a:pt x="2500162" y="556384"/>
                      <a:pt x="2492375" y="564171"/>
                    </a:cubicBezTo>
                    <a:cubicBezTo>
                      <a:pt x="2484588" y="571957"/>
                      <a:pt x="2474027" y="576332"/>
                      <a:pt x="2463015" y="576332"/>
                    </a:cubicBezTo>
                    <a:lnTo>
                      <a:pt x="41521" y="576332"/>
                    </a:lnTo>
                    <a:cubicBezTo>
                      <a:pt x="30509" y="576332"/>
                      <a:pt x="19948" y="571957"/>
                      <a:pt x="12161" y="564171"/>
                    </a:cubicBezTo>
                    <a:cubicBezTo>
                      <a:pt x="4374" y="556384"/>
                      <a:pt x="0" y="545823"/>
                      <a:pt x="0" y="534811"/>
                    </a:cubicBezTo>
                    <a:lnTo>
                      <a:pt x="0" y="41521"/>
                    </a:lnTo>
                    <a:cubicBezTo>
                      <a:pt x="0" y="30509"/>
                      <a:pt x="4374" y="19948"/>
                      <a:pt x="12161" y="12161"/>
                    </a:cubicBezTo>
                    <a:cubicBezTo>
                      <a:pt x="19948" y="4374"/>
                      <a:pt x="30509" y="0"/>
                      <a:pt x="41521" y="0"/>
                    </a:cubicBezTo>
                    <a:close/>
                  </a:path>
                </a:pathLst>
              </a:custGeom>
              <a:solidFill>
                <a:srgbClr val="FF99D8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85725"/>
                <a:ext cx="2504536" cy="4906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18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274605"/>
              <a:ext cx="11814567" cy="8847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817941" indent="-408971" lvl="1">
                <a:lnSpc>
                  <a:spcPts val="5303"/>
                </a:lnSpc>
                <a:buFont typeface="Arial"/>
                <a:buChar char="•"/>
              </a:pPr>
              <a:r>
                <a:rPr lang="en-US" sz="3788" spc="-284">
                  <a:solidFill>
                    <a:srgbClr val="5271FF"/>
                  </a:solidFill>
                  <a:latin typeface="Aileron"/>
                  <a:ea typeface="Aileron"/>
                  <a:cs typeface="Aileron"/>
                  <a:sym typeface="Aileron"/>
                </a:rPr>
                <a:t>Synthetic dataset of 100,000 customer records created for CLV model training</a:t>
              </a:r>
            </a:p>
            <a:p>
              <a:pPr algn="ctr">
                <a:lnSpc>
                  <a:spcPts val="5303"/>
                </a:lnSpc>
              </a:pPr>
            </a:p>
            <a:p>
              <a:pPr algn="ctr" marL="817941" indent="-408971" lvl="1">
                <a:lnSpc>
                  <a:spcPts val="5303"/>
                </a:lnSpc>
                <a:buFont typeface="Arial"/>
                <a:buChar char="•"/>
              </a:pPr>
              <a:r>
                <a:rPr lang="en-US" sz="3788" spc="-284">
                  <a:solidFill>
                    <a:srgbClr val="1F48FF"/>
                  </a:solidFill>
                  <a:latin typeface="Aileron"/>
                  <a:ea typeface="Aileron"/>
                  <a:cs typeface="Aileron"/>
                  <a:sym typeface="Aileron"/>
                </a:rPr>
                <a:t>Each row represents a single customer with transaction and behavioral details</a:t>
              </a:r>
            </a:p>
            <a:p>
              <a:pPr algn="ctr">
                <a:lnSpc>
                  <a:spcPts val="5303"/>
                </a:lnSpc>
              </a:pPr>
            </a:p>
            <a:p>
              <a:pPr algn="ctr" marL="817941" indent="-408971" lvl="1">
                <a:lnSpc>
                  <a:spcPts val="5303"/>
                </a:lnSpc>
                <a:buFont typeface="Arial"/>
                <a:buChar char="•"/>
              </a:pPr>
              <a:r>
                <a:rPr lang="en-US" sz="3788" spc="-284">
                  <a:solidFill>
                    <a:srgbClr val="0025CC"/>
                  </a:solidFill>
                  <a:latin typeface="Aileron"/>
                  <a:ea typeface="Aileron"/>
                  <a:cs typeface="Aileron"/>
                  <a:sym typeface="Aileron"/>
                </a:rPr>
                <a:t>Key inputs include frequency, spend, recency, tenure, and average monthly spending</a:t>
              </a:r>
            </a:p>
            <a:p>
              <a:pPr algn="ctr">
                <a:lnSpc>
                  <a:spcPts val="5303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768940">
            <a:off x="-1315101" y="-4221648"/>
            <a:ext cx="20918202" cy="18730295"/>
          </a:xfrm>
          <a:custGeom>
            <a:avLst/>
            <a:gdLst/>
            <a:ahLst/>
            <a:cxnLst/>
            <a:rect r="r" b="b" t="t" l="l"/>
            <a:pathLst>
              <a:path h="18730295" w="20918202">
                <a:moveTo>
                  <a:pt x="15187984" y="0"/>
                </a:moveTo>
                <a:lnTo>
                  <a:pt x="0" y="10187054"/>
                </a:lnTo>
                <a:lnTo>
                  <a:pt x="5730218" y="18730296"/>
                </a:lnTo>
                <a:lnTo>
                  <a:pt x="20918202" y="8543242"/>
                </a:lnTo>
                <a:lnTo>
                  <a:pt x="15187984" y="0"/>
                </a:lnTo>
                <a:close/>
              </a:path>
            </a:pathLst>
          </a:custGeom>
          <a:blipFill>
            <a:blip r:embed="rId2"/>
            <a:stretch>
              <a:fillRect l="-2753" t="0" r="-3164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073719">
            <a:off x="-570592" y="-4539507"/>
            <a:ext cx="19366015" cy="1936601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945"/>
                  </a:srgbClr>
                </a:gs>
                <a:gs pos="25000">
                  <a:srgbClr val="FFFFFF">
                    <a:alpha val="1350"/>
                  </a:srgbClr>
                </a:gs>
                <a:gs pos="50000">
                  <a:srgbClr val="FFFFFF">
                    <a:alpha val="900"/>
                  </a:srgbClr>
                </a:gs>
                <a:gs pos="75000">
                  <a:srgbClr val="FFFFFF">
                    <a:alpha val="1350"/>
                  </a:srgbClr>
                </a:gs>
                <a:gs pos="100000">
                  <a:srgbClr val="FFFFFF">
                    <a:alpha val="9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8073719">
            <a:off x="2774663" y="-1149785"/>
            <a:ext cx="12586569" cy="1258656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945"/>
                  </a:srgbClr>
                </a:gs>
                <a:gs pos="25000">
                  <a:srgbClr val="FFFFFF">
                    <a:alpha val="1350"/>
                  </a:srgbClr>
                </a:gs>
                <a:gs pos="50000">
                  <a:srgbClr val="FFFFFF">
                    <a:alpha val="900"/>
                  </a:srgbClr>
                </a:gs>
                <a:gs pos="75000">
                  <a:srgbClr val="FFFFFF">
                    <a:alpha val="1350"/>
                  </a:srgbClr>
                </a:gs>
                <a:gs pos="100000">
                  <a:srgbClr val="FFFFFF">
                    <a:alpha val="9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85414" y="1333357"/>
            <a:ext cx="15317172" cy="153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b="true" sz="10286" spc="-432" u="sng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Feature Engineering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182836" y="681038"/>
            <a:ext cx="1639426" cy="347662"/>
          </a:xfrm>
          <a:custGeom>
            <a:avLst/>
            <a:gdLst/>
            <a:ahLst/>
            <a:cxnLst/>
            <a:rect r="r" b="b" t="t" l="l"/>
            <a:pathLst>
              <a:path h="347662" w="1639426">
                <a:moveTo>
                  <a:pt x="0" y="0"/>
                </a:moveTo>
                <a:lnTo>
                  <a:pt x="1639426" y="0"/>
                </a:lnTo>
                <a:lnTo>
                  <a:pt x="1639426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57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85414" y="3072120"/>
            <a:ext cx="15317172" cy="445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sz="3600" spc="-270">
                <a:solidFill>
                  <a:srgbClr val="FFADAD"/>
                </a:solidFill>
                <a:latin typeface="Aileron"/>
                <a:ea typeface="Aileron"/>
                <a:cs typeface="Aileron"/>
                <a:sym typeface="Aileron"/>
              </a:rPr>
              <a:t>Transformed raw customer data into model-ready features</a:t>
            </a:r>
          </a:p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sz="3600" spc="-270">
                <a:solidFill>
                  <a:srgbClr val="C2E9FF"/>
                </a:solidFill>
                <a:latin typeface="Aileron"/>
                <a:ea typeface="Aileron"/>
                <a:cs typeface="Aileron"/>
                <a:sym typeface="Aileron"/>
              </a:rPr>
              <a:t>Engineered RFM metrics: Recency, Frequency, and Monetary value</a:t>
            </a:r>
          </a:p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sz="3600" spc="-270">
                <a:solidFill>
                  <a:srgbClr val="FFADAD"/>
                </a:solidFill>
                <a:latin typeface="Aileron"/>
                <a:ea typeface="Aileron"/>
                <a:cs typeface="Aileron"/>
                <a:sym typeface="Aileron"/>
              </a:rPr>
              <a:t>Created additional behavioral features such as average order value, tenure, and repeat purchase tendency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 spc="-270">
                <a:solidFill>
                  <a:srgbClr val="C2E9FF"/>
                </a:solidFill>
                <a:latin typeface="Aileron"/>
                <a:ea typeface="Aileron"/>
                <a:cs typeface="Aileron"/>
                <a:sym typeface="Aileron"/>
              </a:rPr>
              <a:t>Converted transaction patterns into customer-level predictive signals</a:t>
            </a:r>
          </a:p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sz="3600" spc="-270">
                <a:solidFill>
                  <a:srgbClr val="FFADAD"/>
                </a:solidFill>
                <a:latin typeface="Aileron"/>
                <a:ea typeface="Aileron"/>
                <a:cs typeface="Aileron"/>
                <a:sym typeface="Aileron"/>
              </a:rPr>
              <a:t>Final feature set was used for CLV regression modeling and behavior-based customer clustering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4240293" y="-3978498"/>
            <a:ext cx="17891941" cy="1789194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7150129" y="-1068662"/>
            <a:ext cx="12072268" cy="1207226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182836" y="681038"/>
            <a:ext cx="1639426" cy="347662"/>
          </a:xfrm>
          <a:custGeom>
            <a:avLst/>
            <a:gdLst/>
            <a:ahLst/>
            <a:cxnLst/>
            <a:rect r="r" b="b" t="t" l="l"/>
            <a:pathLst>
              <a:path h="347662" w="1639426">
                <a:moveTo>
                  <a:pt x="0" y="0"/>
                </a:moveTo>
                <a:lnTo>
                  <a:pt x="1639426" y="0"/>
                </a:lnTo>
                <a:lnTo>
                  <a:pt x="1639426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572"/>
            </a:stretch>
          </a:blipFill>
        </p:spPr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688031" y="3828518"/>
          <a:ext cx="14911938" cy="5429782"/>
        </p:xfrm>
        <a:graphic>
          <a:graphicData uri="http://schemas.openxmlformats.org/drawingml/2006/table">
            <a:tbl>
              <a:tblPr/>
              <a:tblGrid>
                <a:gridCol w="2957597"/>
                <a:gridCol w="2957597"/>
                <a:gridCol w="2957597"/>
                <a:gridCol w="2957597"/>
                <a:gridCol w="3081550"/>
              </a:tblGrid>
              <a:tr h="1244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R^2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MAE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Adjusted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1244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XG 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12789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16626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Linear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028700" y="826223"/>
            <a:ext cx="13231446" cy="158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01"/>
              </a:lnSpc>
            </a:pPr>
            <a:r>
              <a:rPr lang="en-US" b="true" sz="10599" spc="-445" u="sng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CLV prediction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362034"/>
            <a:ext cx="13231446" cy="43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3423" indent="-281711" lvl="1">
              <a:lnSpc>
                <a:spcPts val="3653"/>
              </a:lnSpc>
              <a:spcBef>
                <a:spcPct val="0"/>
              </a:spcBef>
              <a:buFont typeface="Arial"/>
              <a:buChar char="•"/>
            </a:pPr>
            <a:r>
              <a:rPr lang="en-US" sz="2609" spc="-19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Developed a CLV regression model using engineered RFM and behavioral features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-5455214" y="259623"/>
            <a:ext cx="17891941" cy="1789194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-2545378" y="2475015"/>
            <a:ext cx="12072268" cy="1207226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700088"/>
            <a:ext cx="15397525" cy="116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1"/>
              </a:lnSpc>
            </a:pPr>
            <a:r>
              <a:rPr lang="en-US" b="true" sz="7795" spc="-327" u="sng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Customer Segmentation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182836" y="681038"/>
            <a:ext cx="1639426" cy="347662"/>
          </a:xfrm>
          <a:custGeom>
            <a:avLst/>
            <a:gdLst/>
            <a:ahLst/>
            <a:cxnLst/>
            <a:rect r="r" b="b" t="t" l="l"/>
            <a:pathLst>
              <a:path h="347662" w="1639426">
                <a:moveTo>
                  <a:pt x="0" y="0"/>
                </a:moveTo>
                <a:lnTo>
                  <a:pt x="1639426" y="0"/>
                </a:lnTo>
                <a:lnTo>
                  <a:pt x="1639426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572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70992" y="2057400"/>
            <a:ext cx="15497217" cy="1023877"/>
            <a:chOff x="0" y="0"/>
            <a:chExt cx="4081572" cy="2696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81571" cy="269663"/>
            </a:xfrm>
            <a:custGeom>
              <a:avLst/>
              <a:gdLst/>
              <a:ahLst/>
              <a:cxnLst/>
              <a:rect r="r" b="b" t="t" l="l"/>
              <a:pathLst>
                <a:path h="269663" w="4081571">
                  <a:moveTo>
                    <a:pt x="8493" y="0"/>
                  </a:moveTo>
                  <a:lnTo>
                    <a:pt x="4073079" y="0"/>
                  </a:lnTo>
                  <a:cubicBezTo>
                    <a:pt x="4075331" y="0"/>
                    <a:pt x="4077491" y="895"/>
                    <a:pt x="4079084" y="2487"/>
                  </a:cubicBezTo>
                  <a:cubicBezTo>
                    <a:pt x="4080677" y="4080"/>
                    <a:pt x="4081571" y="6240"/>
                    <a:pt x="4081571" y="8493"/>
                  </a:cubicBezTo>
                  <a:lnTo>
                    <a:pt x="4081571" y="261171"/>
                  </a:lnTo>
                  <a:cubicBezTo>
                    <a:pt x="4081571" y="263423"/>
                    <a:pt x="4080677" y="265583"/>
                    <a:pt x="4079084" y="267176"/>
                  </a:cubicBezTo>
                  <a:cubicBezTo>
                    <a:pt x="4077491" y="268768"/>
                    <a:pt x="4075331" y="269663"/>
                    <a:pt x="4073079" y="269663"/>
                  </a:cubicBezTo>
                  <a:lnTo>
                    <a:pt x="8493" y="269663"/>
                  </a:lnTo>
                  <a:cubicBezTo>
                    <a:pt x="6240" y="269663"/>
                    <a:pt x="4080" y="268768"/>
                    <a:pt x="2487" y="267176"/>
                  </a:cubicBezTo>
                  <a:cubicBezTo>
                    <a:pt x="895" y="265583"/>
                    <a:pt x="0" y="263423"/>
                    <a:pt x="0" y="261171"/>
                  </a:cubicBezTo>
                  <a:lnTo>
                    <a:pt x="0" y="8493"/>
                  </a:lnTo>
                  <a:cubicBezTo>
                    <a:pt x="0" y="6240"/>
                    <a:pt x="895" y="4080"/>
                    <a:pt x="2487" y="2487"/>
                  </a:cubicBezTo>
                  <a:cubicBezTo>
                    <a:pt x="4080" y="895"/>
                    <a:pt x="6240" y="0"/>
                    <a:pt x="8493" y="0"/>
                  </a:cubicBezTo>
                  <a:close/>
                </a:path>
              </a:pathLst>
            </a:custGeom>
            <a:solidFill>
              <a:srgbClr val="7A004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4081572" cy="183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0992" y="3480565"/>
            <a:ext cx="15497217" cy="1023877"/>
            <a:chOff x="0" y="0"/>
            <a:chExt cx="4081572" cy="2696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81571" cy="269663"/>
            </a:xfrm>
            <a:custGeom>
              <a:avLst/>
              <a:gdLst/>
              <a:ahLst/>
              <a:cxnLst/>
              <a:rect r="r" b="b" t="t" l="l"/>
              <a:pathLst>
                <a:path h="269663" w="4081571">
                  <a:moveTo>
                    <a:pt x="8493" y="0"/>
                  </a:moveTo>
                  <a:lnTo>
                    <a:pt x="4073079" y="0"/>
                  </a:lnTo>
                  <a:cubicBezTo>
                    <a:pt x="4075331" y="0"/>
                    <a:pt x="4077491" y="895"/>
                    <a:pt x="4079084" y="2487"/>
                  </a:cubicBezTo>
                  <a:cubicBezTo>
                    <a:pt x="4080677" y="4080"/>
                    <a:pt x="4081571" y="6240"/>
                    <a:pt x="4081571" y="8493"/>
                  </a:cubicBezTo>
                  <a:lnTo>
                    <a:pt x="4081571" y="261171"/>
                  </a:lnTo>
                  <a:cubicBezTo>
                    <a:pt x="4081571" y="263423"/>
                    <a:pt x="4080677" y="265583"/>
                    <a:pt x="4079084" y="267176"/>
                  </a:cubicBezTo>
                  <a:cubicBezTo>
                    <a:pt x="4077491" y="268768"/>
                    <a:pt x="4075331" y="269663"/>
                    <a:pt x="4073079" y="269663"/>
                  </a:cubicBezTo>
                  <a:lnTo>
                    <a:pt x="8493" y="269663"/>
                  </a:lnTo>
                  <a:cubicBezTo>
                    <a:pt x="6240" y="269663"/>
                    <a:pt x="4080" y="268768"/>
                    <a:pt x="2487" y="267176"/>
                  </a:cubicBezTo>
                  <a:cubicBezTo>
                    <a:pt x="895" y="265583"/>
                    <a:pt x="0" y="263423"/>
                    <a:pt x="0" y="261171"/>
                  </a:cubicBezTo>
                  <a:lnTo>
                    <a:pt x="0" y="8493"/>
                  </a:lnTo>
                  <a:cubicBezTo>
                    <a:pt x="0" y="6240"/>
                    <a:pt x="895" y="4080"/>
                    <a:pt x="2487" y="2487"/>
                  </a:cubicBezTo>
                  <a:cubicBezTo>
                    <a:pt x="4080" y="895"/>
                    <a:pt x="6240" y="0"/>
                    <a:pt x="8493" y="0"/>
                  </a:cubicBezTo>
                  <a:close/>
                </a:path>
              </a:pathLst>
            </a:custGeom>
            <a:solidFill>
              <a:srgbClr val="7A004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85725"/>
              <a:ext cx="4081572" cy="183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0992" y="4904492"/>
            <a:ext cx="15497217" cy="1803280"/>
            <a:chOff x="0" y="0"/>
            <a:chExt cx="4081572" cy="4749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81571" cy="474938"/>
            </a:xfrm>
            <a:custGeom>
              <a:avLst/>
              <a:gdLst/>
              <a:ahLst/>
              <a:cxnLst/>
              <a:rect r="r" b="b" t="t" l="l"/>
              <a:pathLst>
                <a:path h="474938" w="4081571">
                  <a:moveTo>
                    <a:pt x="8493" y="0"/>
                  </a:moveTo>
                  <a:lnTo>
                    <a:pt x="4073079" y="0"/>
                  </a:lnTo>
                  <a:cubicBezTo>
                    <a:pt x="4075331" y="0"/>
                    <a:pt x="4077491" y="895"/>
                    <a:pt x="4079084" y="2487"/>
                  </a:cubicBezTo>
                  <a:cubicBezTo>
                    <a:pt x="4080677" y="4080"/>
                    <a:pt x="4081571" y="6240"/>
                    <a:pt x="4081571" y="8493"/>
                  </a:cubicBezTo>
                  <a:lnTo>
                    <a:pt x="4081571" y="466445"/>
                  </a:lnTo>
                  <a:cubicBezTo>
                    <a:pt x="4081571" y="468698"/>
                    <a:pt x="4080677" y="470858"/>
                    <a:pt x="4079084" y="472450"/>
                  </a:cubicBezTo>
                  <a:cubicBezTo>
                    <a:pt x="4077491" y="474043"/>
                    <a:pt x="4075331" y="474938"/>
                    <a:pt x="4073079" y="474938"/>
                  </a:cubicBezTo>
                  <a:lnTo>
                    <a:pt x="8493" y="474938"/>
                  </a:lnTo>
                  <a:cubicBezTo>
                    <a:pt x="6240" y="474938"/>
                    <a:pt x="4080" y="474043"/>
                    <a:pt x="2487" y="472450"/>
                  </a:cubicBezTo>
                  <a:cubicBezTo>
                    <a:pt x="895" y="470858"/>
                    <a:pt x="0" y="468698"/>
                    <a:pt x="0" y="466445"/>
                  </a:cubicBezTo>
                  <a:lnTo>
                    <a:pt x="0" y="8493"/>
                  </a:lnTo>
                  <a:cubicBezTo>
                    <a:pt x="0" y="6240"/>
                    <a:pt x="895" y="4080"/>
                    <a:pt x="2487" y="2487"/>
                  </a:cubicBezTo>
                  <a:cubicBezTo>
                    <a:pt x="4080" y="895"/>
                    <a:pt x="6240" y="0"/>
                    <a:pt x="8493" y="0"/>
                  </a:cubicBezTo>
                  <a:close/>
                </a:path>
              </a:pathLst>
            </a:custGeom>
            <a:solidFill>
              <a:srgbClr val="7A004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85725"/>
              <a:ext cx="4081572" cy="389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70992" y="7107822"/>
            <a:ext cx="15497217" cy="1023877"/>
            <a:chOff x="0" y="0"/>
            <a:chExt cx="4081572" cy="2696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81571" cy="269663"/>
            </a:xfrm>
            <a:custGeom>
              <a:avLst/>
              <a:gdLst/>
              <a:ahLst/>
              <a:cxnLst/>
              <a:rect r="r" b="b" t="t" l="l"/>
              <a:pathLst>
                <a:path h="269663" w="4081571">
                  <a:moveTo>
                    <a:pt x="8493" y="0"/>
                  </a:moveTo>
                  <a:lnTo>
                    <a:pt x="4073079" y="0"/>
                  </a:lnTo>
                  <a:cubicBezTo>
                    <a:pt x="4075331" y="0"/>
                    <a:pt x="4077491" y="895"/>
                    <a:pt x="4079084" y="2487"/>
                  </a:cubicBezTo>
                  <a:cubicBezTo>
                    <a:pt x="4080677" y="4080"/>
                    <a:pt x="4081571" y="6240"/>
                    <a:pt x="4081571" y="8493"/>
                  </a:cubicBezTo>
                  <a:lnTo>
                    <a:pt x="4081571" y="261171"/>
                  </a:lnTo>
                  <a:cubicBezTo>
                    <a:pt x="4081571" y="263423"/>
                    <a:pt x="4080677" y="265583"/>
                    <a:pt x="4079084" y="267176"/>
                  </a:cubicBezTo>
                  <a:cubicBezTo>
                    <a:pt x="4077491" y="268768"/>
                    <a:pt x="4075331" y="269663"/>
                    <a:pt x="4073079" y="269663"/>
                  </a:cubicBezTo>
                  <a:lnTo>
                    <a:pt x="8493" y="269663"/>
                  </a:lnTo>
                  <a:cubicBezTo>
                    <a:pt x="6240" y="269663"/>
                    <a:pt x="4080" y="268768"/>
                    <a:pt x="2487" y="267176"/>
                  </a:cubicBezTo>
                  <a:cubicBezTo>
                    <a:pt x="895" y="265583"/>
                    <a:pt x="0" y="263423"/>
                    <a:pt x="0" y="261171"/>
                  </a:cubicBezTo>
                  <a:lnTo>
                    <a:pt x="0" y="8493"/>
                  </a:lnTo>
                  <a:cubicBezTo>
                    <a:pt x="0" y="6240"/>
                    <a:pt x="895" y="4080"/>
                    <a:pt x="2487" y="2487"/>
                  </a:cubicBezTo>
                  <a:cubicBezTo>
                    <a:pt x="4080" y="895"/>
                    <a:pt x="6240" y="0"/>
                    <a:pt x="8493" y="0"/>
                  </a:cubicBezTo>
                  <a:close/>
                </a:path>
              </a:pathLst>
            </a:custGeom>
            <a:solidFill>
              <a:srgbClr val="7A004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85725"/>
              <a:ext cx="4081572" cy="183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20839" y="2302223"/>
            <a:ext cx="15397525" cy="632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3"/>
              </a:lnSpc>
            </a:pPr>
            <a:r>
              <a:rPr lang="en-US" sz="4009" spc="-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Used K-Means clustering to discover behavior-based customer segments</a:t>
            </a:r>
          </a:p>
          <a:p>
            <a:pPr algn="ctr">
              <a:lnSpc>
                <a:spcPts val="5613"/>
              </a:lnSpc>
            </a:pPr>
          </a:p>
          <a:p>
            <a:pPr algn="ctr">
              <a:lnSpc>
                <a:spcPts val="5613"/>
              </a:lnSpc>
            </a:pPr>
            <a:r>
              <a:rPr lang="en-US" sz="4009" spc="-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Grouped customers based on purchasing patterns and value-related features</a:t>
            </a:r>
          </a:p>
          <a:p>
            <a:pPr algn="ctr">
              <a:lnSpc>
                <a:spcPts val="5613"/>
              </a:lnSpc>
            </a:pPr>
          </a:p>
          <a:p>
            <a:pPr algn="ctr">
              <a:lnSpc>
                <a:spcPts val="5613"/>
              </a:lnSpc>
            </a:pPr>
            <a:r>
              <a:rPr lang="en-US" sz="4009" spc="-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Trained a Decision Tree to translate cluster behavior into interpretable segmentation rules</a:t>
            </a:r>
          </a:p>
          <a:p>
            <a:pPr algn="ctr">
              <a:lnSpc>
                <a:spcPts val="5613"/>
              </a:lnSpc>
            </a:pPr>
          </a:p>
          <a:p>
            <a:pPr algn="ctr">
              <a:lnSpc>
                <a:spcPts val="5613"/>
              </a:lnSpc>
            </a:pPr>
            <a:r>
              <a:rPr lang="en-US" sz="4009" spc="-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Final output categorized customers into Low, Medium, and High value segments</a:t>
            </a:r>
          </a:p>
          <a:p>
            <a:pPr algn="ctr">
              <a:lnSpc>
                <a:spcPts val="5613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16226310" y="2057400"/>
            <a:ext cx="392053" cy="392053"/>
            <a:chOff x="0" y="0"/>
            <a:chExt cx="647700" cy="647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52400" y="238125"/>
              <a:ext cx="342900" cy="25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276156" y="3480565"/>
            <a:ext cx="392053" cy="392053"/>
            <a:chOff x="0" y="0"/>
            <a:chExt cx="647700" cy="647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52400" y="238125"/>
              <a:ext cx="342900" cy="25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276156" y="4904492"/>
            <a:ext cx="392053" cy="392053"/>
            <a:chOff x="0" y="0"/>
            <a:chExt cx="647700" cy="647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52400" y="238125"/>
              <a:ext cx="342900" cy="25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276156" y="7107822"/>
            <a:ext cx="392053" cy="392053"/>
            <a:chOff x="0" y="0"/>
            <a:chExt cx="647700" cy="647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477520" y="21590"/>
                  </a:moveTo>
                  <a:lnTo>
                    <a:pt x="374650" y="269240"/>
                  </a:lnTo>
                  <a:lnTo>
                    <a:pt x="623570" y="166370"/>
                  </a:lnTo>
                  <a:lnTo>
                    <a:pt x="647700" y="219710"/>
                  </a:lnTo>
                  <a:lnTo>
                    <a:pt x="397510" y="322580"/>
                  </a:lnTo>
                  <a:lnTo>
                    <a:pt x="647700" y="425450"/>
                  </a:lnTo>
                  <a:lnTo>
                    <a:pt x="623570" y="477520"/>
                  </a:lnTo>
                  <a:lnTo>
                    <a:pt x="374650" y="374650"/>
                  </a:lnTo>
                  <a:lnTo>
                    <a:pt x="477520" y="623570"/>
                  </a:lnTo>
                  <a:lnTo>
                    <a:pt x="425450" y="647700"/>
                  </a:lnTo>
                  <a:lnTo>
                    <a:pt x="322580" y="397510"/>
                  </a:lnTo>
                  <a:lnTo>
                    <a:pt x="219710" y="647700"/>
                  </a:lnTo>
                  <a:lnTo>
                    <a:pt x="167640" y="623570"/>
                  </a:lnTo>
                  <a:lnTo>
                    <a:pt x="269240" y="374650"/>
                  </a:lnTo>
                  <a:lnTo>
                    <a:pt x="21590" y="477520"/>
                  </a:lnTo>
                  <a:lnTo>
                    <a:pt x="0" y="425450"/>
                  </a:lnTo>
                  <a:lnTo>
                    <a:pt x="247650" y="322580"/>
                  </a:lnTo>
                  <a:lnTo>
                    <a:pt x="0" y="219710"/>
                  </a:lnTo>
                  <a:lnTo>
                    <a:pt x="21590" y="167640"/>
                  </a:lnTo>
                  <a:lnTo>
                    <a:pt x="269240" y="269240"/>
                  </a:lnTo>
                  <a:lnTo>
                    <a:pt x="167640" y="21590"/>
                  </a:lnTo>
                  <a:lnTo>
                    <a:pt x="219710" y="0"/>
                  </a:lnTo>
                  <a:lnTo>
                    <a:pt x="322580" y="247650"/>
                  </a:lnTo>
                  <a:lnTo>
                    <a:pt x="425450" y="0"/>
                  </a:lnTo>
                  <a:lnTo>
                    <a:pt x="477520" y="215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52400" y="238125"/>
              <a:ext cx="342900" cy="25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5636889" y="-5627185"/>
            <a:ext cx="17891941" cy="1789194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8546725" y="-2890427"/>
            <a:ext cx="12072268" cy="1207226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627995" y="380267"/>
            <a:ext cx="9032009" cy="160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69"/>
              </a:lnSpc>
            </a:pPr>
            <a:r>
              <a:rPr lang="en-US" b="true" sz="10829" spc="-454" u="sng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RAG Chatbot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182836" y="681038"/>
            <a:ext cx="1639426" cy="347662"/>
          </a:xfrm>
          <a:custGeom>
            <a:avLst/>
            <a:gdLst/>
            <a:ahLst/>
            <a:cxnLst/>
            <a:rect r="r" b="b" t="t" l="l"/>
            <a:pathLst>
              <a:path h="347662" w="1639426">
                <a:moveTo>
                  <a:pt x="0" y="0"/>
                </a:moveTo>
                <a:lnTo>
                  <a:pt x="1639426" y="0"/>
                </a:lnTo>
                <a:lnTo>
                  <a:pt x="1639426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57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17108" y="3021882"/>
            <a:ext cx="16442192" cy="691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67617" indent="-383808" lvl="1">
              <a:lnSpc>
                <a:spcPts val="5510"/>
              </a:lnSpc>
              <a:buFont typeface="Arial"/>
              <a:buChar char="•"/>
            </a:pPr>
            <a:r>
              <a:rPr lang="en-US" b="true" sz="3555" spc="-5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Developed a Retrieval-Augmented Generation (RAG) chatbot to make CLV predictions more interpretable</a:t>
            </a:r>
          </a:p>
          <a:p>
            <a:pPr algn="ctr" marL="767617" indent="-383808" lvl="1">
              <a:lnSpc>
                <a:spcPts val="5510"/>
              </a:lnSpc>
              <a:buFont typeface="Arial"/>
              <a:buChar char="•"/>
            </a:pPr>
            <a:r>
              <a:rPr lang="en-US" b="true" sz="3555" spc="-5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Created a knowledge base using business logic and dataset-driven customer insights</a:t>
            </a:r>
          </a:p>
          <a:p>
            <a:pPr algn="ctr" marL="767617" indent="-383808" lvl="1">
              <a:lnSpc>
                <a:spcPts val="5510"/>
              </a:lnSpc>
              <a:buFont typeface="Arial"/>
              <a:buChar char="•"/>
            </a:pPr>
            <a:r>
              <a:rPr lang="en-US" b="true" sz="3555" spc="-5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Stored embedded knowledge chunks in FAISS for fast semantic retrieval</a:t>
            </a:r>
          </a:p>
          <a:p>
            <a:pPr algn="ctr" marL="767617" indent="-383808" lvl="1">
              <a:lnSpc>
                <a:spcPts val="5510"/>
              </a:lnSpc>
              <a:buFont typeface="Arial"/>
              <a:buChar char="•"/>
            </a:pPr>
            <a:r>
              <a:rPr lang="en-US" b="true" sz="3555" spc="-5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On each query, the chatbot retrieves relevant context and uses Phi-2 to generate explainable responses</a:t>
            </a:r>
          </a:p>
          <a:p>
            <a:pPr algn="ctr" marL="767617" indent="-383808" lvl="1">
              <a:lnSpc>
                <a:spcPts val="5510"/>
              </a:lnSpc>
              <a:buFont typeface="Arial"/>
              <a:buChar char="•"/>
            </a:pPr>
            <a:r>
              <a:rPr lang="en-US" b="true" sz="3555" spc="-53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Provides customer-specific reasoning, segment explanations, and actionable business insights</a:t>
            </a:r>
          </a:p>
          <a:p>
            <a:pPr algn="ctr">
              <a:lnSpc>
                <a:spcPts val="551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66727">
            <a:off x="4447463" y="-2040873"/>
            <a:ext cx="17212156" cy="1721215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66727">
            <a:off x="7275014" y="786677"/>
            <a:ext cx="11557056" cy="115570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499958" y="1185863"/>
            <a:ext cx="10889403" cy="517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99"/>
              </a:lnSpc>
            </a:pPr>
            <a:r>
              <a:rPr lang="en-US" sz="15348" spc="-721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Challenges faced</a:t>
            </a:r>
          </a:p>
          <a:p>
            <a:pPr algn="l">
              <a:lnSpc>
                <a:spcPts val="131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32972" y="6242477"/>
            <a:ext cx="13476196" cy="154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4"/>
              </a:lnSpc>
            </a:pPr>
            <a:r>
              <a:rPr lang="en-US" sz="4900" spc="-27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something</a:t>
            </a:r>
          </a:p>
          <a:p>
            <a:pPr algn="l">
              <a:lnSpc>
                <a:spcPts val="6174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182836" y="681038"/>
            <a:ext cx="1639426" cy="347662"/>
          </a:xfrm>
          <a:custGeom>
            <a:avLst/>
            <a:gdLst/>
            <a:ahLst/>
            <a:cxnLst/>
            <a:rect r="r" b="b" t="t" l="l"/>
            <a:pathLst>
              <a:path h="347662" w="1639426">
                <a:moveTo>
                  <a:pt x="0" y="0"/>
                </a:moveTo>
                <a:lnTo>
                  <a:pt x="1639426" y="0"/>
                </a:lnTo>
                <a:lnTo>
                  <a:pt x="1639426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572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66727">
            <a:off x="4447463" y="-2040873"/>
            <a:ext cx="17212156" cy="1721215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66727">
            <a:off x="7275014" y="786677"/>
            <a:ext cx="11557056" cy="115570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182836" y="681038"/>
            <a:ext cx="1639426" cy="347662"/>
          </a:xfrm>
          <a:custGeom>
            <a:avLst/>
            <a:gdLst/>
            <a:ahLst/>
            <a:cxnLst/>
            <a:rect r="r" b="b" t="t" l="l"/>
            <a:pathLst>
              <a:path h="347662" w="1639426">
                <a:moveTo>
                  <a:pt x="0" y="0"/>
                </a:moveTo>
                <a:lnTo>
                  <a:pt x="1639426" y="0"/>
                </a:lnTo>
                <a:lnTo>
                  <a:pt x="1639426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572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66727">
            <a:off x="4447463" y="-2040873"/>
            <a:ext cx="17212156" cy="1721215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66727">
            <a:off x="7275014" y="786677"/>
            <a:ext cx="11557056" cy="115570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5725" y="3212675"/>
            <a:ext cx="13682878" cy="220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64"/>
              </a:lnSpc>
            </a:pPr>
            <a:r>
              <a:rPr lang="en-US" sz="18447" spc="-867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Thank You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182836" y="681038"/>
            <a:ext cx="1639426" cy="347662"/>
          </a:xfrm>
          <a:custGeom>
            <a:avLst/>
            <a:gdLst/>
            <a:ahLst/>
            <a:cxnLst/>
            <a:rect r="r" b="b" t="t" l="l"/>
            <a:pathLst>
              <a:path h="347662" w="1639426">
                <a:moveTo>
                  <a:pt x="0" y="0"/>
                </a:moveTo>
                <a:lnTo>
                  <a:pt x="1639426" y="0"/>
                </a:lnTo>
                <a:lnTo>
                  <a:pt x="1639426" y="347662"/>
                </a:lnTo>
                <a:lnTo>
                  <a:pt x="0" y="34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572"/>
            </a:stretch>
          </a:blipFill>
        </p:spPr>
      </p:sp>
      <p:sp>
        <p:nvSpPr>
          <p:cNvPr name="AutoShape 11" id="11"/>
          <p:cNvSpPr/>
          <p:nvPr/>
        </p:nvSpPr>
        <p:spPr>
          <a:xfrm flipH="true">
            <a:off x="9163050" y="5859458"/>
            <a:ext cx="19050" cy="368936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6233128" y="5821358"/>
            <a:ext cx="2094167" cy="143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3"/>
              </a:lnSpc>
            </a:pPr>
            <a:r>
              <a:rPr lang="en-US" sz="2609" spc="12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Aditi J</a:t>
            </a:r>
          </a:p>
          <a:p>
            <a:pPr algn="ctr">
              <a:lnSpc>
                <a:spcPts val="3653"/>
              </a:lnSpc>
            </a:pPr>
          </a:p>
          <a:p>
            <a:pPr algn="ctr">
              <a:lnSpc>
                <a:spcPts val="2113"/>
              </a:lnSpc>
            </a:pPr>
            <a:r>
              <a:rPr lang="en-US" sz="1509" spc="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Ph:+91 90434 99979</a:t>
            </a:r>
          </a:p>
          <a:p>
            <a:pPr algn="ctr">
              <a:lnSpc>
                <a:spcPts val="2113"/>
              </a:lnSpc>
              <a:spcBef>
                <a:spcPct val="0"/>
              </a:spcBef>
            </a:pPr>
            <a:r>
              <a:rPr lang="en-US" sz="1509" spc="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E-mail: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80193" y="5821358"/>
            <a:ext cx="3173349" cy="143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3"/>
              </a:lnSpc>
            </a:pPr>
            <a:r>
              <a:rPr lang="en-US" sz="2609" spc="12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Shreyas Kadapatti</a:t>
            </a:r>
          </a:p>
          <a:p>
            <a:pPr algn="ctr">
              <a:lnSpc>
                <a:spcPts val="3653"/>
              </a:lnSpc>
            </a:pPr>
          </a:p>
          <a:p>
            <a:pPr algn="ctr">
              <a:lnSpc>
                <a:spcPts val="2113"/>
              </a:lnSpc>
            </a:pPr>
            <a:r>
              <a:rPr lang="en-US" sz="1509" spc="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Ph:</a:t>
            </a:r>
          </a:p>
          <a:p>
            <a:pPr algn="ctr">
              <a:lnSpc>
                <a:spcPts val="2113"/>
              </a:lnSpc>
              <a:spcBef>
                <a:spcPct val="0"/>
              </a:spcBef>
            </a:pPr>
            <a:r>
              <a:rPr lang="en-US" sz="1509" spc="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E-mail: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DAHFiHrqW3o</dc:identifier>
  <dcterms:modified xsi:type="dcterms:W3CDTF">2011-08-01T06:04:30Z</dcterms:modified>
  <cp:revision>1</cp:revision>
  <dc:title>AI Customer Life Cycle Value and Personalization with GenAI Advisor – Aditi ir Shreyas Kadapatti</dc:title>
</cp:coreProperties>
</file>